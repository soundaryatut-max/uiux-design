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7"/>
  </p:notesMasterIdLst>
  <p:sldIdLst>
    <p:sldId id="256" r:id="rId2"/>
    <p:sldId id="257" r:id="rId3"/>
    <p:sldId id="258" r:id="rId4"/>
    <p:sldId id="259" r:id="rId5"/>
    <p:sldId id="260" r:id="rId6"/>
    <p:sldId id="269" r:id="rId7"/>
    <p:sldId id="262" r:id="rId8"/>
    <p:sldId id="264" r:id="rId9"/>
    <p:sldId id="266" r:id="rId10"/>
    <p:sldId id="268" r:id="rId11"/>
    <p:sldId id="271" r:id="rId12"/>
    <p:sldId id="273" r:id="rId13"/>
    <p:sldId id="274" r:id="rId14"/>
    <p:sldId id="275" r:id="rId15"/>
    <p:sldId id="276"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15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AD7AED-FCFB-4A3C-8089-5187E140E0BA}" type="datetimeFigureOut">
              <a:rPr lang="en-IN" smtClean="0"/>
              <a:t>19-07-2026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63AB89-7C37-45A3-A257-9CB51FA38F86}" type="slidenum">
              <a:rPr lang="en-IN" smtClean="0"/>
              <a:t>‹#›</a:t>
            </a:fld>
            <a:endParaRPr lang="en-IN"/>
          </a:p>
        </p:txBody>
      </p:sp>
    </p:spTree>
    <p:extLst>
      <p:ext uri="{BB962C8B-B14F-4D97-AF65-F5344CB8AC3E}">
        <p14:creationId xmlns:p14="http://schemas.microsoft.com/office/powerpoint/2010/main" val="999315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F63AB89-7C37-45A3-A257-9CB51FA38F86}" type="slidenum">
              <a:rPr lang="en-IN" smtClean="0"/>
              <a:t>5</a:t>
            </a:fld>
            <a:endParaRPr lang="en-IN"/>
          </a:p>
        </p:txBody>
      </p:sp>
    </p:spTree>
    <p:extLst>
      <p:ext uri="{BB962C8B-B14F-4D97-AF65-F5344CB8AC3E}">
        <p14:creationId xmlns:p14="http://schemas.microsoft.com/office/powerpoint/2010/main" val="17847927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305F5460-E8E4-4CC5-BA5C-509A37679D69}" type="datetimeFigureOut">
              <a:rPr lang="en-IN" smtClean="0"/>
              <a:t>19-07-2026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0F79C2DC-CD3B-4CBF-BCAC-9A5E4DC641DC}" type="slidenum">
              <a:rPr lang="en-IN" smtClean="0"/>
              <a:t>‹#›</a:t>
            </a:fld>
            <a:endParaRPr lang="en-IN"/>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47157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5F5460-E8E4-4CC5-BA5C-509A37679D69}"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79C2DC-CD3B-4CBF-BCAC-9A5E4DC641DC}" type="slidenum">
              <a:rPr lang="en-IN" smtClean="0"/>
              <a:t>‹#›</a:t>
            </a:fld>
            <a:endParaRPr lang="en-IN"/>
          </a:p>
        </p:txBody>
      </p:sp>
    </p:spTree>
    <p:extLst>
      <p:ext uri="{BB962C8B-B14F-4D97-AF65-F5344CB8AC3E}">
        <p14:creationId xmlns:p14="http://schemas.microsoft.com/office/powerpoint/2010/main" val="2186695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F5460-E8E4-4CC5-BA5C-509A37679D69}"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79C2DC-CD3B-4CBF-BCAC-9A5E4DC641DC}" type="slidenum">
              <a:rPr lang="en-IN" smtClean="0"/>
              <a:t>‹#›</a:t>
            </a:fld>
            <a:endParaRPr lang="en-IN"/>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2115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5F5460-E8E4-4CC5-BA5C-509A37679D69}" type="datetimeFigureOut">
              <a:rPr lang="en-IN" smtClean="0"/>
              <a:t>19-07-2026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79C2DC-CD3B-4CBF-BCAC-9A5E4DC641DC}" type="slidenum">
              <a:rPr lang="en-IN" smtClean="0"/>
              <a:t>‹#›</a:t>
            </a:fld>
            <a:endParaRPr lang="en-IN"/>
          </a:p>
        </p:txBody>
      </p:sp>
    </p:spTree>
    <p:extLst>
      <p:ext uri="{BB962C8B-B14F-4D97-AF65-F5344CB8AC3E}">
        <p14:creationId xmlns:p14="http://schemas.microsoft.com/office/powerpoint/2010/main" val="2709582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5F5460-E8E4-4CC5-BA5C-509A37679D69}" type="datetimeFigureOut">
              <a:rPr lang="en-IN" smtClean="0"/>
              <a:t>19-07-2026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F79C2DC-CD3B-4CBF-BCAC-9A5E4DC641DC}" type="slidenum">
              <a:rPr lang="en-IN" smtClean="0"/>
              <a:t>‹#›</a:t>
            </a:fld>
            <a:endParaRPr lang="en-IN"/>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28537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5F5460-E8E4-4CC5-BA5C-509A37679D69}" type="datetimeFigureOut">
              <a:rPr lang="en-IN" smtClean="0"/>
              <a:t>19-07-2026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F79C2DC-CD3B-4CBF-BCAC-9A5E4DC641DC}" type="slidenum">
              <a:rPr lang="en-IN" smtClean="0"/>
              <a:t>‹#›</a:t>
            </a:fld>
            <a:endParaRPr lang="en-IN"/>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90931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5F5460-E8E4-4CC5-BA5C-509A37679D69}" type="datetimeFigureOut">
              <a:rPr lang="en-IN" smtClean="0"/>
              <a:t>19-07-2026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F79C2DC-CD3B-4CBF-BCAC-9A5E4DC641DC}" type="slidenum">
              <a:rPr lang="en-IN" smtClean="0"/>
              <a:t>‹#›</a:t>
            </a:fld>
            <a:endParaRPr lang="en-IN"/>
          </a:p>
        </p:txBody>
      </p:sp>
    </p:spTree>
    <p:extLst>
      <p:ext uri="{BB962C8B-B14F-4D97-AF65-F5344CB8AC3E}">
        <p14:creationId xmlns:p14="http://schemas.microsoft.com/office/powerpoint/2010/main" val="2539610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5F5460-E8E4-4CC5-BA5C-509A37679D69}" type="datetimeFigureOut">
              <a:rPr lang="en-IN" smtClean="0"/>
              <a:t>19-07-2026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79C2DC-CD3B-4CBF-BCAC-9A5E4DC641DC}" type="slidenum">
              <a:rPr lang="en-IN" smtClean="0"/>
              <a:t>‹#›</a:t>
            </a:fld>
            <a:endParaRPr lang="en-IN"/>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4078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5F5460-E8E4-4CC5-BA5C-509A37679D69}" type="datetimeFigureOut">
              <a:rPr lang="en-IN" smtClean="0"/>
              <a:t>19-07-2026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79C2DC-CD3B-4CBF-BCAC-9A5E4DC641DC}" type="slidenum">
              <a:rPr lang="en-IN" smtClean="0"/>
              <a:t>‹#›</a:t>
            </a:fld>
            <a:endParaRPr lang="en-IN"/>
          </a:p>
        </p:txBody>
      </p:sp>
    </p:spTree>
    <p:extLst>
      <p:ext uri="{BB962C8B-B14F-4D97-AF65-F5344CB8AC3E}">
        <p14:creationId xmlns:p14="http://schemas.microsoft.com/office/powerpoint/2010/main" val="3598842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5F5460-E8E4-4CC5-BA5C-509A37679D69}" type="datetimeFigureOut">
              <a:rPr lang="en-IN" smtClean="0"/>
              <a:t>19-07-2026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79C2DC-CD3B-4CBF-BCAC-9A5E4DC641DC}" type="slidenum">
              <a:rPr lang="en-IN" smtClean="0"/>
              <a:t>‹#›</a:t>
            </a:fld>
            <a:endParaRPr lang="en-IN"/>
          </a:p>
        </p:txBody>
      </p:sp>
    </p:spTree>
    <p:extLst>
      <p:ext uri="{BB962C8B-B14F-4D97-AF65-F5344CB8AC3E}">
        <p14:creationId xmlns:p14="http://schemas.microsoft.com/office/powerpoint/2010/main" val="3301180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F5460-E8E4-4CC5-BA5C-509A37679D69}"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79C2DC-CD3B-4CBF-BCAC-9A5E4DC641DC}" type="slidenum">
              <a:rPr lang="en-IN" smtClean="0"/>
              <a:t>‹#›</a:t>
            </a:fld>
            <a:endParaRPr lang="en-IN"/>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55888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F5460-E8E4-4CC5-BA5C-509A37679D69}"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79C2DC-CD3B-4CBF-BCAC-9A5E4DC641DC}"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70644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F5460-E8E4-4CC5-BA5C-509A37679D69}"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79C2DC-CD3B-4CBF-BCAC-9A5E4DC641DC}" type="slidenum">
              <a:rPr lang="en-IN" smtClean="0"/>
              <a:t>‹#›</a:t>
            </a:fld>
            <a:endParaRPr lang="en-IN"/>
          </a:p>
        </p:txBody>
      </p:sp>
    </p:spTree>
    <p:extLst>
      <p:ext uri="{BB962C8B-B14F-4D97-AF65-F5344CB8AC3E}">
        <p14:creationId xmlns:p14="http://schemas.microsoft.com/office/powerpoint/2010/main" val="30370636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F5460-E8E4-4CC5-BA5C-509A37679D69}"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79C2DC-CD3B-4CBF-BCAC-9A5E4DC641DC}"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60326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F5460-E8E4-4CC5-BA5C-509A37679D69}"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79C2DC-CD3B-4CBF-BCAC-9A5E4DC641DC}" type="slidenum">
              <a:rPr lang="en-IN" smtClean="0"/>
              <a:t>‹#›</a:t>
            </a:fld>
            <a:endParaRPr lang="en-IN"/>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868179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5F5460-E8E4-4CC5-BA5C-509A37679D69}"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79C2DC-CD3B-4CBF-BCAC-9A5E4DC641DC}" type="slidenum">
              <a:rPr lang="en-IN" smtClean="0"/>
              <a:t>‹#›</a:t>
            </a:fld>
            <a:endParaRPr lang="en-IN"/>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75860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5F5460-E8E4-4CC5-BA5C-509A37679D69}" type="datetimeFigureOut">
              <a:rPr lang="en-IN" smtClean="0"/>
              <a:t>19-07-2026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79C2DC-CD3B-4CBF-BCAC-9A5E4DC641DC}" type="slidenum">
              <a:rPr lang="en-IN" smtClean="0"/>
              <a:t>‹#›</a:t>
            </a:fld>
            <a:endParaRPr lang="en-IN"/>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93916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3.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05F5460-E8E4-4CC5-BA5C-509A37679D69}" type="datetimeFigureOut">
              <a:rPr lang="en-IN" smtClean="0"/>
              <a:t>19-07-2026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F79C2DC-CD3B-4CBF-BCAC-9A5E4DC641DC}" type="slidenum">
              <a:rPr lang="en-IN" smtClean="0"/>
              <a:t>‹#›</a:t>
            </a:fld>
            <a:endParaRPr lang="en-IN"/>
          </a:p>
        </p:txBody>
      </p:sp>
    </p:spTree>
    <p:extLst>
      <p:ext uri="{BB962C8B-B14F-4D97-AF65-F5344CB8AC3E}">
        <p14:creationId xmlns:p14="http://schemas.microsoft.com/office/powerpoint/2010/main" val="352540448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5.jpg"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21EBD-47DF-10AA-DE57-2D69990FA1D2}"/>
              </a:ext>
            </a:extLst>
          </p:cNvPr>
          <p:cNvSpPr>
            <a:spLocks noGrp="1"/>
          </p:cNvSpPr>
          <p:nvPr>
            <p:ph type="ctrTitle"/>
          </p:nvPr>
        </p:nvSpPr>
        <p:spPr/>
        <p:txBody>
          <a:bodyPr/>
          <a:lstStyle/>
          <a:p>
            <a:r>
              <a:rPr lang="en-IN" sz="6000" dirty="0">
                <a:latin typeface="Baskerville Old Face" panose="02020602080505020303" pitchFamily="18" charset="0"/>
              </a:rPr>
              <a:t>UI/UX</a:t>
            </a:r>
          </a:p>
        </p:txBody>
      </p:sp>
      <p:sp>
        <p:nvSpPr>
          <p:cNvPr id="3" name="Subtitle 2">
            <a:extLst>
              <a:ext uri="{FF2B5EF4-FFF2-40B4-BE49-F238E27FC236}">
                <a16:creationId xmlns:a16="http://schemas.microsoft.com/office/drawing/2014/main" id="{96ACD658-0FF9-D7E6-C985-651C882FF252}"/>
              </a:ext>
            </a:extLst>
          </p:cNvPr>
          <p:cNvSpPr>
            <a:spLocks noGrp="1"/>
          </p:cNvSpPr>
          <p:nvPr>
            <p:ph type="subTitle" idx="1"/>
          </p:nvPr>
        </p:nvSpPr>
        <p:spPr/>
        <p:txBody>
          <a:bodyPr/>
          <a:lstStyle/>
          <a:p>
            <a:r>
              <a:rPr lang="en-IN" sz="3600" dirty="0">
                <a:latin typeface="Baskerville Old Face" panose="02020602080505020303" pitchFamily="18" charset="0"/>
              </a:rPr>
              <a:t>USER INTERFACE &amp; USER EXPERIENCE</a:t>
            </a:r>
          </a:p>
          <a:p>
            <a:endParaRPr lang="en-IN" dirty="0"/>
          </a:p>
        </p:txBody>
      </p:sp>
    </p:spTree>
    <p:extLst>
      <p:ext uri="{BB962C8B-B14F-4D97-AF65-F5344CB8AC3E}">
        <p14:creationId xmlns:p14="http://schemas.microsoft.com/office/powerpoint/2010/main" val="295867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4C703-F2F2-3304-B169-DE54F96A3C9E}"/>
              </a:ext>
            </a:extLst>
          </p:cNvPr>
          <p:cNvSpPr>
            <a:spLocks noGrp="1"/>
          </p:cNvSpPr>
          <p:nvPr>
            <p:ph type="title"/>
          </p:nvPr>
        </p:nvSpPr>
        <p:spPr>
          <a:xfrm>
            <a:off x="1295402" y="713875"/>
            <a:ext cx="9601196" cy="1564104"/>
          </a:xfrm>
        </p:spPr>
        <p:txBody>
          <a:bodyPr>
            <a:normAutofit/>
          </a:bodyPr>
          <a:lstStyle/>
          <a:p>
            <a:r>
              <a:rPr lang="en-IN" sz="5400" dirty="0">
                <a:latin typeface="Baskerville Old Face" panose="02020602080505020303" pitchFamily="18" charset="0"/>
              </a:rPr>
              <a:t>What is user interface(UI)?</a:t>
            </a:r>
          </a:p>
        </p:txBody>
      </p:sp>
      <p:sp>
        <p:nvSpPr>
          <p:cNvPr id="3" name="Content Placeholder 2">
            <a:extLst>
              <a:ext uri="{FF2B5EF4-FFF2-40B4-BE49-F238E27FC236}">
                <a16:creationId xmlns:a16="http://schemas.microsoft.com/office/drawing/2014/main" id="{08B4FF42-BADD-9CCB-F1C0-D64C027E3472}"/>
              </a:ext>
            </a:extLst>
          </p:cNvPr>
          <p:cNvSpPr>
            <a:spLocks noGrp="1"/>
          </p:cNvSpPr>
          <p:nvPr>
            <p:ph idx="1"/>
          </p:nvPr>
        </p:nvSpPr>
        <p:spPr>
          <a:xfrm>
            <a:off x="1295401" y="2556931"/>
            <a:ext cx="9601196" cy="3763658"/>
          </a:xfrm>
        </p:spPr>
        <p:txBody>
          <a:bodyPr>
            <a:normAutofit lnSpcReduction="10000"/>
          </a:bodyPr>
          <a:lstStyle/>
          <a:p>
            <a:pPr>
              <a:buFont typeface="Wingdings" panose="05000000000000000000" pitchFamily="2" charset="2"/>
              <a:buChar char="§"/>
            </a:pPr>
            <a:r>
              <a:rPr lang="en-IN" dirty="0">
                <a:latin typeface="Baskerville Old Face" panose="02020602080505020303" pitchFamily="18" charset="0"/>
              </a:rPr>
              <a:t>A user interface(UI) is the part of computer system, website, or mobile app that allows users to interact with it. It includes all the visual elements and controls that help users perform task.</a:t>
            </a:r>
          </a:p>
          <a:p>
            <a:pPr>
              <a:buFont typeface="Wingdings" panose="05000000000000000000" pitchFamily="2" charset="2"/>
              <a:buChar char="§"/>
            </a:pPr>
            <a:r>
              <a:rPr lang="en-IN" dirty="0">
                <a:latin typeface="Baskerville Old Face" panose="02020602080505020303" pitchFamily="18" charset="0"/>
              </a:rPr>
              <a:t>Eg of user interface:</a:t>
            </a:r>
          </a:p>
          <a:p>
            <a:pPr>
              <a:buFont typeface="Wingdings" panose="05000000000000000000" pitchFamily="2" charset="2"/>
              <a:buChar char="§"/>
            </a:pPr>
            <a:r>
              <a:rPr lang="en-IN" dirty="0">
                <a:latin typeface="Baskerville Old Face" panose="02020602080505020303" pitchFamily="18" charset="0"/>
              </a:rPr>
              <a:t>Buttons: To perform actions(submit)</a:t>
            </a:r>
          </a:p>
          <a:p>
            <a:pPr>
              <a:buFont typeface="Wingdings" panose="05000000000000000000" pitchFamily="2" charset="2"/>
              <a:buChar char="§"/>
            </a:pPr>
            <a:r>
              <a:rPr lang="en-IN" dirty="0">
                <a:latin typeface="Baskerville Old Face" panose="02020602080505020303" pitchFamily="18" charset="0"/>
              </a:rPr>
              <a:t>Menus: To choose options</a:t>
            </a:r>
          </a:p>
          <a:p>
            <a:pPr>
              <a:buFont typeface="Wingdings" panose="05000000000000000000" pitchFamily="2" charset="2"/>
              <a:buChar char="§"/>
            </a:pPr>
            <a:r>
              <a:rPr lang="en-IN" dirty="0">
                <a:latin typeface="Baskerville Old Face" panose="02020602080505020303" pitchFamily="18" charset="0"/>
              </a:rPr>
              <a:t>Icons: Represent functions or application</a:t>
            </a:r>
          </a:p>
          <a:p>
            <a:pPr>
              <a:buFont typeface="Wingdings" panose="05000000000000000000" pitchFamily="2" charset="2"/>
              <a:buChar char="§"/>
            </a:pPr>
            <a:r>
              <a:rPr lang="en-IN" dirty="0">
                <a:latin typeface="Baskerville Old Face" panose="02020602080505020303" pitchFamily="18" charset="0"/>
              </a:rPr>
              <a:t>Text boxes: To enter information</a:t>
            </a:r>
          </a:p>
          <a:p>
            <a:pPr algn="ctr">
              <a:buFont typeface="Wingdings" panose="05000000000000000000" pitchFamily="2" charset="2"/>
              <a:buChar char="§"/>
            </a:pPr>
            <a:endParaRPr lang="en-IN" dirty="0"/>
          </a:p>
          <a:p>
            <a:endParaRPr lang="en-IN" dirty="0"/>
          </a:p>
        </p:txBody>
      </p:sp>
    </p:spTree>
    <p:extLst>
      <p:ext uri="{BB962C8B-B14F-4D97-AF65-F5344CB8AC3E}">
        <p14:creationId xmlns:p14="http://schemas.microsoft.com/office/powerpoint/2010/main" val="1628941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F2FEB-1CFA-E7DC-0179-505A6E517A51}"/>
              </a:ext>
            </a:extLst>
          </p:cNvPr>
          <p:cNvSpPr>
            <a:spLocks noGrp="1"/>
          </p:cNvSpPr>
          <p:nvPr>
            <p:ph type="title"/>
          </p:nvPr>
        </p:nvSpPr>
        <p:spPr/>
        <p:txBody>
          <a:bodyPr>
            <a:normAutofit/>
          </a:bodyPr>
          <a:lstStyle/>
          <a:p>
            <a:r>
              <a:rPr lang="en-IN" sz="4800" dirty="0">
                <a:latin typeface="Baskerville Old Face" panose="02020602080505020303" pitchFamily="18" charset="0"/>
              </a:rPr>
              <a:t>What is user experience(UX)?</a:t>
            </a:r>
          </a:p>
        </p:txBody>
      </p:sp>
      <p:sp>
        <p:nvSpPr>
          <p:cNvPr id="3" name="Content Placeholder 2">
            <a:extLst>
              <a:ext uri="{FF2B5EF4-FFF2-40B4-BE49-F238E27FC236}">
                <a16:creationId xmlns:a16="http://schemas.microsoft.com/office/drawing/2014/main" id="{A06C72A1-2815-990F-8061-7C4C8BD80BEE}"/>
              </a:ext>
            </a:extLst>
          </p:cNvPr>
          <p:cNvSpPr>
            <a:spLocks noGrp="1"/>
          </p:cNvSpPr>
          <p:nvPr>
            <p:ph idx="1"/>
          </p:nvPr>
        </p:nvSpPr>
        <p:spPr>
          <a:xfrm>
            <a:off x="1295402" y="2733395"/>
            <a:ext cx="9601196" cy="3318936"/>
          </a:xfrm>
        </p:spPr>
        <p:txBody>
          <a:bodyPr>
            <a:noAutofit/>
          </a:bodyPr>
          <a:lstStyle/>
          <a:p>
            <a:pPr>
              <a:buFont typeface="Wingdings" panose="05000000000000000000" pitchFamily="2" charset="2"/>
              <a:buChar char="§"/>
            </a:pPr>
            <a:r>
              <a:rPr lang="en-IN" sz="2000" dirty="0">
                <a:latin typeface="Baskerville Old Face" panose="02020602080505020303" pitchFamily="18" charset="0"/>
              </a:rPr>
              <a:t>User experience(UX) is a overall experience a person has while using a product, website, app or service. It focuses on how easy, efficient, enjoyable, and satisfying it is to use.</a:t>
            </a:r>
          </a:p>
          <a:p>
            <a:pPr>
              <a:buFont typeface="Wingdings" panose="05000000000000000000" pitchFamily="2" charset="2"/>
              <a:buChar char="§"/>
            </a:pPr>
            <a:r>
              <a:rPr lang="en-IN" sz="2000" dirty="0">
                <a:latin typeface="Baskerville Old Face" panose="02020602080505020303" pitchFamily="18" charset="0"/>
              </a:rPr>
              <a:t>Eg of user experience:</a:t>
            </a:r>
          </a:p>
          <a:p>
            <a:pPr>
              <a:buFont typeface="Wingdings" panose="05000000000000000000" pitchFamily="2" charset="2"/>
              <a:buChar char="§"/>
            </a:pPr>
            <a:r>
              <a:rPr lang="en-IN" sz="2000" dirty="0">
                <a:latin typeface="Baskerville Old Face" panose="02020602080505020303" pitchFamily="18" charset="0"/>
              </a:rPr>
              <a:t>Usability: Is the product easy to use?</a:t>
            </a:r>
          </a:p>
          <a:p>
            <a:pPr>
              <a:buFont typeface="Wingdings" panose="05000000000000000000" pitchFamily="2" charset="2"/>
              <a:buChar char="§"/>
            </a:pPr>
            <a:r>
              <a:rPr lang="en-IN" sz="2000" dirty="0">
                <a:latin typeface="Baskerville Old Face" panose="02020602080505020303" pitchFamily="18" charset="0"/>
              </a:rPr>
              <a:t>Accessibility: Can people with different abilities use it?</a:t>
            </a:r>
          </a:p>
          <a:p>
            <a:pPr>
              <a:buFont typeface="Wingdings" panose="05000000000000000000" pitchFamily="2" charset="2"/>
              <a:buChar char="§"/>
            </a:pPr>
            <a:r>
              <a:rPr lang="en-IN" sz="2000" dirty="0">
                <a:latin typeface="Baskerville Old Face" panose="02020602080505020303" pitchFamily="18" charset="0"/>
              </a:rPr>
              <a:t>Efficiency: Can user accomplish tasks quickly?</a:t>
            </a:r>
          </a:p>
          <a:p>
            <a:pPr>
              <a:buFont typeface="Wingdings" panose="05000000000000000000" pitchFamily="2" charset="2"/>
              <a:buChar char="§"/>
            </a:pPr>
            <a:r>
              <a:rPr lang="en-IN" sz="2000" dirty="0">
                <a:latin typeface="Baskerville Old Face" panose="02020602080505020303" pitchFamily="18" charset="0"/>
              </a:rPr>
              <a:t>Satisfaction: Does the experience feel pleasant and valuable?</a:t>
            </a:r>
          </a:p>
        </p:txBody>
      </p:sp>
    </p:spTree>
    <p:extLst>
      <p:ext uri="{BB962C8B-B14F-4D97-AF65-F5344CB8AC3E}">
        <p14:creationId xmlns:p14="http://schemas.microsoft.com/office/powerpoint/2010/main" val="4005326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A4D54-D924-980F-18C2-5EFD37851CDB}"/>
              </a:ext>
            </a:extLst>
          </p:cNvPr>
          <p:cNvSpPr>
            <a:spLocks noGrp="1"/>
          </p:cNvSpPr>
          <p:nvPr>
            <p:ph type="title"/>
          </p:nvPr>
        </p:nvSpPr>
        <p:spPr/>
        <p:txBody>
          <a:bodyPr>
            <a:normAutofit/>
          </a:bodyPr>
          <a:lstStyle/>
          <a:p>
            <a:r>
              <a:rPr lang="en-IN" sz="3600" dirty="0">
                <a:latin typeface="Baskerville Old Face" panose="02020602080505020303" pitchFamily="18" charset="0"/>
              </a:rPr>
              <a:t>DIFF BETWEEN USER INTERFACE&amp;USER EXPERIENCE</a:t>
            </a:r>
          </a:p>
        </p:txBody>
      </p:sp>
      <p:graphicFrame>
        <p:nvGraphicFramePr>
          <p:cNvPr id="13" name="Content Placeholder 12">
            <a:extLst>
              <a:ext uri="{FF2B5EF4-FFF2-40B4-BE49-F238E27FC236}">
                <a16:creationId xmlns:a16="http://schemas.microsoft.com/office/drawing/2014/main" id="{36F8E529-FD66-EFAA-6E23-26C79BFB13FA}"/>
              </a:ext>
            </a:extLst>
          </p:cNvPr>
          <p:cNvGraphicFramePr>
            <a:graphicFrameLocks noGrp="1"/>
          </p:cNvGraphicFramePr>
          <p:nvPr>
            <p:ph idx="1"/>
            <p:extLst>
              <p:ext uri="{D42A27DB-BD31-4B8C-83A1-F6EECF244321}">
                <p14:modId xmlns:p14="http://schemas.microsoft.com/office/powerpoint/2010/main" val="3457349269"/>
              </p:ext>
            </p:extLst>
          </p:nvPr>
        </p:nvGraphicFramePr>
        <p:xfrm>
          <a:off x="1395663" y="2557463"/>
          <a:ext cx="9709486" cy="3318405"/>
        </p:xfrm>
        <a:graphic>
          <a:graphicData uri="http://schemas.openxmlformats.org/drawingml/2006/table">
            <a:tbl>
              <a:tblPr firstRow="1" bandRow="1">
                <a:tableStyleId>{8A107856-5554-42FB-B03E-39F5DBC370BA}</a:tableStyleId>
              </a:tblPr>
              <a:tblGrid>
                <a:gridCol w="4908886">
                  <a:extLst>
                    <a:ext uri="{9D8B030D-6E8A-4147-A177-3AD203B41FA5}">
                      <a16:colId xmlns:a16="http://schemas.microsoft.com/office/drawing/2014/main" val="3399837513"/>
                    </a:ext>
                  </a:extLst>
                </a:gridCol>
                <a:gridCol w="4800600">
                  <a:extLst>
                    <a:ext uri="{9D8B030D-6E8A-4147-A177-3AD203B41FA5}">
                      <a16:colId xmlns:a16="http://schemas.microsoft.com/office/drawing/2014/main" val="2655215321"/>
                    </a:ext>
                  </a:extLst>
                </a:gridCol>
              </a:tblGrid>
              <a:tr h="663681">
                <a:tc>
                  <a:txBody>
                    <a:bodyPr/>
                    <a:lstStyle/>
                    <a:p>
                      <a:pPr algn="ctr"/>
                      <a:r>
                        <a:rPr lang="en-IN" i="1" dirty="0">
                          <a:latin typeface="Bahnschrift" panose="020B0502040204020203" pitchFamily="34" charset="0"/>
                        </a:rPr>
                        <a:t>USER INTERFACE</a:t>
                      </a:r>
                    </a:p>
                  </a:txBody>
                  <a:tcPr/>
                </a:tc>
                <a:tc>
                  <a:txBody>
                    <a:bodyPr/>
                    <a:lstStyle/>
                    <a:p>
                      <a:pPr algn="ctr"/>
                      <a:r>
                        <a:rPr lang="en-IN" b="0" i="1" dirty="0">
                          <a:latin typeface="Bahnschrift" panose="020B0502040204020203" pitchFamily="34" charset="0"/>
                          <a:cs typeface="Amiri Quran" panose="00000500000000000000" pitchFamily="2" charset="-78"/>
                        </a:rPr>
                        <a:t>USER EXPERIENCE</a:t>
                      </a:r>
                    </a:p>
                  </a:txBody>
                  <a:tcPr/>
                </a:tc>
                <a:extLst>
                  <a:ext uri="{0D108BD9-81ED-4DB2-BD59-A6C34878D82A}">
                    <a16:rowId xmlns:a16="http://schemas.microsoft.com/office/drawing/2014/main" val="2759372908"/>
                  </a:ext>
                </a:extLst>
              </a:tr>
              <a:tr h="663681">
                <a:tc>
                  <a:txBody>
                    <a:bodyPr/>
                    <a:lstStyle/>
                    <a:p>
                      <a:r>
                        <a:rPr lang="en-IN" i="1" dirty="0">
                          <a:latin typeface="Bahnschrift" panose="020B0502040204020203" pitchFamily="34" charset="0"/>
                        </a:rPr>
                        <a:t>Focuses on the product’s appearance.</a:t>
                      </a:r>
                    </a:p>
                  </a:txBody>
                  <a:tcPr/>
                </a:tc>
                <a:tc>
                  <a:txBody>
                    <a:bodyPr/>
                    <a:lstStyle/>
                    <a:p>
                      <a:r>
                        <a:rPr lang="en-IN" dirty="0">
                          <a:latin typeface="Bahnschrift" panose="020B0502040204020203" pitchFamily="34" charset="0"/>
                        </a:rPr>
                        <a:t>Focuses on overall user journey and experience.</a:t>
                      </a:r>
                    </a:p>
                  </a:txBody>
                  <a:tcPr/>
                </a:tc>
                <a:extLst>
                  <a:ext uri="{0D108BD9-81ED-4DB2-BD59-A6C34878D82A}">
                    <a16:rowId xmlns:a16="http://schemas.microsoft.com/office/drawing/2014/main" val="2272810328"/>
                  </a:ext>
                </a:extLst>
              </a:tr>
              <a:tr h="663681">
                <a:tc>
                  <a:txBody>
                    <a:bodyPr/>
                    <a:lstStyle/>
                    <a:p>
                      <a:r>
                        <a:rPr lang="en-IN" i="1" dirty="0">
                          <a:latin typeface="Bahnschrift" panose="020B0502040204020203" pitchFamily="34" charset="0"/>
                        </a:rPr>
                        <a:t>Includes buttons, icons, colours, fonts, and layouts.</a:t>
                      </a:r>
                    </a:p>
                  </a:txBody>
                  <a:tcPr/>
                </a:tc>
                <a:tc>
                  <a:txBody>
                    <a:bodyPr/>
                    <a:lstStyle/>
                    <a:p>
                      <a:r>
                        <a:rPr lang="en-IN" dirty="0">
                          <a:latin typeface="Bahnschrift" panose="020B0502040204020203" pitchFamily="34" charset="0"/>
                        </a:rPr>
                        <a:t>Includes usability, ease of use, efficiency, and satisfaction.</a:t>
                      </a:r>
                    </a:p>
                  </a:txBody>
                  <a:tcPr/>
                </a:tc>
                <a:extLst>
                  <a:ext uri="{0D108BD9-81ED-4DB2-BD59-A6C34878D82A}">
                    <a16:rowId xmlns:a16="http://schemas.microsoft.com/office/drawing/2014/main" val="1286802682"/>
                  </a:ext>
                </a:extLst>
              </a:tr>
              <a:tr h="663681">
                <a:tc>
                  <a:txBody>
                    <a:bodyPr/>
                    <a:lstStyle/>
                    <a:p>
                      <a:r>
                        <a:rPr lang="en-IN" i="1" dirty="0">
                          <a:latin typeface="Bahnschrift" panose="020B0502040204020203" pitchFamily="34" charset="0"/>
                        </a:rPr>
                        <a:t>Concerned with visual design and interaction elements.</a:t>
                      </a:r>
                    </a:p>
                  </a:txBody>
                  <a:tcPr/>
                </a:tc>
                <a:tc>
                  <a:txBody>
                    <a:bodyPr/>
                    <a:lstStyle/>
                    <a:p>
                      <a:r>
                        <a:rPr lang="en-IN" dirty="0">
                          <a:latin typeface="Bahnschrift" panose="020B0502040204020203" pitchFamily="34" charset="0"/>
                        </a:rPr>
                        <a:t>Concerned with solving user problems and meeting user needs.</a:t>
                      </a:r>
                    </a:p>
                  </a:txBody>
                  <a:tcPr/>
                </a:tc>
                <a:extLst>
                  <a:ext uri="{0D108BD9-81ED-4DB2-BD59-A6C34878D82A}">
                    <a16:rowId xmlns:a16="http://schemas.microsoft.com/office/drawing/2014/main" val="2925676507"/>
                  </a:ext>
                </a:extLst>
              </a:tr>
              <a:tr h="663681">
                <a:tc>
                  <a:txBody>
                    <a:bodyPr/>
                    <a:lstStyle/>
                    <a:p>
                      <a:r>
                        <a:rPr lang="en-IN" i="1" dirty="0">
                          <a:latin typeface="Bahnschrift" panose="020B0502040204020203" pitchFamily="34" charset="0"/>
                        </a:rPr>
                        <a:t>Designers create the look and feel of the interface.</a:t>
                      </a:r>
                    </a:p>
                  </a:txBody>
                  <a:tcPr/>
                </a:tc>
                <a:tc>
                  <a:txBody>
                    <a:bodyPr/>
                    <a:lstStyle/>
                    <a:p>
                      <a:r>
                        <a:rPr lang="en-IN" dirty="0">
                          <a:latin typeface="Bahnschrift" panose="020B0502040204020203" pitchFamily="34" charset="0"/>
                        </a:rPr>
                        <a:t>Designers research, plan, test, and improve the user’s experience.</a:t>
                      </a:r>
                    </a:p>
                  </a:txBody>
                  <a:tcPr/>
                </a:tc>
                <a:extLst>
                  <a:ext uri="{0D108BD9-81ED-4DB2-BD59-A6C34878D82A}">
                    <a16:rowId xmlns:a16="http://schemas.microsoft.com/office/drawing/2014/main" val="1992478156"/>
                  </a:ext>
                </a:extLst>
              </a:tr>
            </a:tbl>
          </a:graphicData>
        </a:graphic>
      </p:graphicFrame>
    </p:spTree>
    <p:extLst>
      <p:ext uri="{BB962C8B-B14F-4D97-AF65-F5344CB8AC3E}">
        <p14:creationId xmlns:p14="http://schemas.microsoft.com/office/powerpoint/2010/main" val="4215761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ACF8-A911-6EAB-C27B-51390A4427F9}"/>
              </a:ext>
            </a:extLst>
          </p:cNvPr>
          <p:cNvSpPr>
            <a:spLocks noGrp="1"/>
          </p:cNvSpPr>
          <p:nvPr>
            <p:ph type="title"/>
          </p:nvPr>
        </p:nvSpPr>
        <p:spPr/>
        <p:txBody>
          <a:bodyPr>
            <a:normAutofit/>
          </a:bodyPr>
          <a:lstStyle/>
          <a:p>
            <a:r>
              <a:rPr lang="en-IN" dirty="0"/>
              <a:t>INSTAGRAM-SOCIAL MEDIA APP</a:t>
            </a:r>
          </a:p>
        </p:txBody>
      </p:sp>
      <p:graphicFrame>
        <p:nvGraphicFramePr>
          <p:cNvPr id="17" name="Content Placeholder 16">
            <a:extLst>
              <a:ext uri="{FF2B5EF4-FFF2-40B4-BE49-F238E27FC236}">
                <a16:creationId xmlns:a16="http://schemas.microsoft.com/office/drawing/2014/main" id="{B2D7C30C-EB4A-5A25-68E3-5F558A286CC0}"/>
              </a:ext>
            </a:extLst>
          </p:cNvPr>
          <p:cNvGraphicFramePr>
            <a:graphicFrameLocks noGrp="1"/>
          </p:cNvGraphicFramePr>
          <p:nvPr>
            <p:ph idx="1"/>
            <p:extLst>
              <p:ext uri="{D42A27DB-BD31-4B8C-83A1-F6EECF244321}">
                <p14:modId xmlns:p14="http://schemas.microsoft.com/office/powerpoint/2010/main" val="2818150773"/>
              </p:ext>
            </p:extLst>
          </p:nvPr>
        </p:nvGraphicFramePr>
        <p:xfrm>
          <a:off x="727529" y="2515130"/>
          <a:ext cx="3581400" cy="365760"/>
        </p:xfrm>
        <a:graphic>
          <a:graphicData uri="http://schemas.openxmlformats.org/drawingml/2006/table">
            <a:tbl>
              <a:tblPr firstRow="1" bandRow="1">
                <a:tableStyleId>{5C22544A-7EE6-4342-B048-85BDC9FD1C3A}</a:tableStyleId>
              </a:tblPr>
              <a:tblGrid>
                <a:gridCol w="3581400">
                  <a:extLst>
                    <a:ext uri="{9D8B030D-6E8A-4147-A177-3AD203B41FA5}">
                      <a16:colId xmlns:a16="http://schemas.microsoft.com/office/drawing/2014/main" val="2175755864"/>
                    </a:ext>
                  </a:extLst>
                </a:gridCol>
              </a:tblGrid>
              <a:tr h="0">
                <a:tc>
                  <a:txBody>
                    <a:bodyPr/>
                    <a:lstStyle/>
                    <a:p>
                      <a:r>
                        <a:rPr lang="en-IN" dirty="0"/>
                        <a:t>UI ELEMENTS IDENTIFIED</a:t>
                      </a:r>
                    </a:p>
                  </a:txBody>
                  <a:tcPr/>
                </a:tc>
                <a:extLst>
                  <a:ext uri="{0D108BD9-81ED-4DB2-BD59-A6C34878D82A}">
                    <a16:rowId xmlns:a16="http://schemas.microsoft.com/office/drawing/2014/main" val="1470240083"/>
                  </a:ext>
                </a:extLst>
              </a:tr>
            </a:tbl>
          </a:graphicData>
        </a:graphic>
      </p:graphicFrame>
      <p:sp>
        <p:nvSpPr>
          <p:cNvPr id="18" name="Rectangle: Rounded Corners 17">
            <a:extLst>
              <a:ext uri="{FF2B5EF4-FFF2-40B4-BE49-F238E27FC236}">
                <a16:creationId xmlns:a16="http://schemas.microsoft.com/office/drawing/2014/main" id="{FCC4A716-6E06-D4B8-73A0-C57813372452}"/>
              </a:ext>
            </a:extLst>
          </p:cNvPr>
          <p:cNvSpPr/>
          <p:nvPr/>
        </p:nvSpPr>
        <p:spPr>
          <a:xfrm>
            <a:off x="727529" y="3110021"/>
            <a:ext cx="1377042" cy="6399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ICONS:</a:t>
            </a:r>
          </a:p>
        </p:txBody>
      </p:sp>
      <p:sp>
        <p:nvSpPr>
          <p:cNvPr id="19" name="Rectangle: Rounded Corners 18">
            <a:extLst>
              <a:ext uri="{FF2B5EF4-FFF2-40B4-BE49-F238E27FC236}">
                <a16:creationId xmlns:a16="http://schemas.microsoft.com/office/drawing/2014/main" id="{07CF06AA-8FD4-AEE5-F2D5-ADC2E0BC2E35}"/>
              </a:ext>
            </a:extLst>
          </p:cNvPr>
          <p:cNvSpPr/>
          <p:nvPr/>
        </p:nvSpPr>
        <p:spPr>
          <a:xfrm>
            <a:off x="2256972" y="3100782"/>
            <a:ext cx="5754914" cy="6491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HEART, COMMENT BUBBLE, SHARE ARROW, BOOKMARK/TAG</a:t>
            </a:r>
          </a:p>
        </p:txBody>
      </p:sp>
      <p:sp>
        <p:nvSpPr>
          <p:cNvPr id="20" name="Rectangle: Rounded Corners 19">
            <a:extLst>
              <a:ext uri="{FF2B5EF4-FFF2-40B4-BE49-F238E27FC236}">
                <a16:creationId xmlns:a16="http://schemas.microsoft.com/office/drawing/2014/main" id="{93F2A829-4C96-3D3D-704E-40EDCB89DA74}"/>
              </a:ext>
            </a:extLst>
          </p:cNvPr>
          <p:cNvSpPr/>
          <p:nvPr/>
        </p:nvSpPr>
        <p:spPr>
          <a:xfrm>
            <a:off x="727530" y="4049486"/>
            <a:ext cx="1377042" cy="51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BUTTONS:</a:t>
            </a:r>
          </a:p>
        </p:txBody>
      </p:sp>
      <p:sp>
        <p:nvSpPr>
          <p:cNvPr id="22" name="Rectangle: Rounded Corners 21">
            <a:extLst>
              <a:ext uri="{FF2B5EF4-FFF2-40B4-BE49-F238E27FC236}">
                <a16:creationId xmlns:a16="http://schemas.microsoft.com/office/drawing/2014/main" id="{6C649398-79AC-38BC-2ED8-EB6C826979A7}"/>
              </a:ext>
            </a:extLst>
          </p:cNvPr>
          <p:cNvSpPr/>
          <p:nvPr/>
        </p:nvSpPr>
        <p:spPr>
          <a:xfrm>
            <a:off x="2256973" y="3969853"/>
            <a:ext cx="5754914" cy="5948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‘FOLLOW’, ‘MESSAGE’, ‘STORY’ RING ON PROFILE</a:t>
            </a:r>
          </a:p>
        </p:txBody>
      </p:sp>
      <p:sp>
        <p:nvSpPr>
          <p:cNvPr id="23" name="Rectangle: Rounded Corners 22">
            <a:extLst>
              <a:ext uri="{FF2B5EF4-FFF2-40B4-BE49-F238E27FC236}">
                <a16:creationId xmlns:a16="http://schemas.microsoft.com/office/drawing/2014/main" id="{86C017C5-5287-EDDF-4B4E-55DD6C051096}"/>
              </a:ext>
            </a:extLst>
          </p:cNvPr>
          <p:cNvSpPr/>
          <p:nvPr/>
        </p:nvSpPr>
        <p:spPr>
          <a:xfrm>
            <a:off x="727529" y="4978400"/>
            <a:ext cx="1377041" cy="51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FORMS:</a:t>
            </a:r>
          </a:p>
        </p:txBody>
      </p:sp>
      <p:sp>
        <p:nvSpPr>
          <p:cNvPr id="24" name="Rectangle: Rounded Corners 23">
            <a:extLst>
              <a:ext uri="{FF2B5EF4-FFF2-40B4-BE49-F238E27FC236}">
                <a16:creationId xmlns:a16="http://schemas.microsoft.com/office/drawing/2014/main" id="{E6757AD2-70C1-0D85-E9B3-8260DBCD882E}"/>
              </a:ext>
            </a:extLst>
          </p:cNvPr>
          <p:cNvSpPr/>
          <p:nvPr/>
        </p:nvSpPr>
        <p:spPr>
          <a:xfrm>
            <a:off x="2256972" y="4978400"/>
            <a:ext cx="5754914" cy="515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CAPTION INPUT,HASHTAG,LOCATION TAG</a:t>
            </a:r>
          </a:p>
        </p:txBody>
      </p:sp>
      <p:sp>
        <p:nvSpPr>
          <p:cNvPr id="25" name="Rectangle: Rounded Corners 24">
            <a:extLst>
              <a:ext uri="{FF2B5EF4-FFF2-40B4-BE49-F238E27FC236}">
                <a16:creationId xmlns:a16="http://schemas.microsoft.com/office/drawing/2014/main" id="{91ADB0F3-A41E-A250-FE30-B10B9553E41F}"/>
              </a:ext>
            </a:extLst>
          </p:cNvPr>
          <p:cNvSpPr/>
          <p:nvPr/>
        </p:nvSpPr>
        <p:spPr>
          <a:xfrm>
            <a:off x="727528" y="5724433"/>
            <a:ext cx="1377042" cy="515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NAVIGATION</a:t>
            </a:r>
          </a:p>
        </p:txBody>
      </p:sp>
      <p:sp>
        <p:nvSpPr>
          <p:cNvPr id="26" name="Rectangle: Rounded Corners 25">
            <a:extLst>
              <a:ext uri="{FF2B5EF4-FFF2-40B4-BE49-F238E27FC236}">
                <a16:creationId xmlns:a16="http://schemas.microsoft.com/office/drawing/2014/main" id="{1A428F1A-C817-6095-E690-1CB2D8681D16}"/>
              </a:ext>
            </a:extLst>
          </p:cNvPr>
          <p:cNvSpPr/>
          <p:nvPr/>
        </p:nvSpPr>
        <p:spPr>
          <a:xfrm>
            <a:off x="2256972" y="5693952"/>
            <a:ext cx="5754914" cy="5152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BUTTON BAR,HOME,SEARCH,REELS,SHOP,PROFILE</a:t>
            </a:r>
          </a:p>
        </p:txBody>
      </p:sp>
    </p:spTree>
    <p:extLst>
      <p:ext uri="{BB962C8B-B14F-4D97-AF65-F5344CB8AC3E}">
        <p14:creationId xmlns:p14="http://schemas.microsoft.com/office/powerpoint/2010/main" val="605753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0">
            <a:extLst>
              <a:ext uri="{FF2B5EF4-FFF2-40B4-BE49-F238E27FC236}">
                <a16:creationId xmlns:a16="http://schemas.microsoft.com/office/drawing/2014/main" id="{A09B78B8-8CE2-3CD4-4DC6-E72058B813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5531" y="1223725"/>
            <a:ext cx="3246233" cy="4846073"/>
          </a:xfrm>
          <a:prstGeom prst="rect">
            <a:avLst/>
          </a:prstGeom>
        </p:spPr>
      </p:pic>
      <p:sp>
        <p:nvSpPr>
          <p:cNvPr id="6" name="Rectangle: Rounded Corners 5">
            <a:extLst>
              <a:ext uri="{FF2B5EF4-FFF2-40B4-BE49-F238E27FC236}">
                <a16:creationId xmlns:a16="http://schemas.microsoft.com/office/drawing/2014/main" id="{BB3B3CF1-2E16-9448-9E25-BEC36018B6EB}"/>
              </a:ext>
            </a:extLst>
          </p:cNvPr>
          <p:cNvSpPr/>
          <p:nvPr/>
        </p:nvSpPr>
        <p:spPr>
          <a:xfrm>
            <a:off x="5966085" y="476933"/>
            <a:ext cx="4392118" cy="59041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Rounded Corners 6">
            <a:extLst>
              <a:ext uri="{FF2B5EF4-FFF2-40B4-BE49-F238E27FC236}">
                <a16:creationId xmlns:a16="http://schemas.microsoft.com/office/drawing/2014/main" id="{7F3213FA-8429-1CEE-D7DA-6E013DE32A5E}"/>
              </a:ext>
            </a:extLst>
          </p:cNvPr>
          <p:cNvSpPr/>
          <p:nvPr/>
        </p:nvSpPr>
        <p:spPr>
          <a:xfrm>
            <a:off x="6775553" y="1006367"/>
            <a:ext cx="2233535" cy="43471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UX ANALYSIS</a:t>
            </a:r>
          </a:p>
        </p:txBody>
      </p:sp>
      <p:sp>
        <p:nvSpPr>
          <p:cNvPr id="8" name="Rectangle: Rounded Corners 7">
            <a:extLst>
              <a:ext uri="{FF2B5EF4-FFF2-40B4-BE49-F238E27FC236}">
                <a16:creationId xmlns:a16="http://schemas.microsoft.com/office/drawing/2014/main" id="{256BF314-F0EE-568D-22B8-D02C47D5B3D9}"/>
              </a:ext>
            </a:extLst>
          </p:cNvPr>
          <p:cNvSpPr/>
          <p:nvPr/>
        </p:nvSpPr>
        <p:spPr>
          <a:xfrm>
            <a:off x="6096000" y="1708878"/>
            <a:ext cx="1758846" cy="43471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EASE TO USE</a:t>
            </a:r>
          </a:p>
        </p:txBody>
      </p:sp>
      <p:sp>
        <p:nvSpPr>
          <p:cNvPr id="9" name="TextBox 8">
            <a:extLst>
              <a:ext uri="{FF2B5EF4-FFF2-40B4-BE49-F238E27FC236}">
                <a16:creationId xmlns:a16="http://schemas.microsoft.com/office/drawing/2014/main" id="{0101EA24-8FA5-1D17-8269-3E05DC142CB1}"/>
              </a:ext>
            </a:extLst>
          </p:cNvPr>
          <p:cNvSpPr txBox="1"/>
          <p:nvPr/>
        </p:nvSpPr>
        <p:spPr>
          <a:xfrm>
            <a:off x="6775553" y="2220219"/>
            <a:ext cx="2998034" cy="646331"/>
          </a:xfrm>
          <a:prstGeom prst="rect">
            <a:avLst/>
          </a:prstGeom>
          <a:noFill/>
        </p:spPr>
        <p:txBody>
          <a:bodyPr wrap="square" rtlCol="0">
            <a:spAutoFit/>
          </a:bodyPr>
          <a:lstStyle/>
          <a:p>
            <a:r>
              <a:rPr lang="en-IN" dirty="0"/>
              <a:t>EASY,SIMPLE,USER FRIENDLY,SMOOTH</a:t>
            </a:r>
          </a:p>
        </p:txBody>
      </p:sp>
      <p:sp>
        <p:nvSpPr>
          <p:cNvPr id="10" name="Rectangle: Rounded Corners 9">
            <a:extLst>
              <a:ext uri="{FF2B5EF4-FFF2-40B4-BE49-F238E27FC236}">
                <a16:creationId xmlns:a16="http://schemas.microsoft.com/office/drawing/2014/main" id="{772D7DBD-D285-9A05-4724-A095837C325B}"/>
              </a:ext>
            </a:extLst>
          </p:cNvPr>
          <p:cNvSpPr/>
          <p:nvPr/>
        </p:nvSpPr>
        <p:spPr>
          <a:xfrm>
            <a:off x="6096000" y="2848203"/>
            <a:ext cx="1758846" cy="38599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EFFICIENCY</a:t>
            </a:r>
          </a:p>
        </p:txBody>
      </p:sp>
      <p:sp>
        <p:nvSpPr>
          <p:cNvPr id="11" name="TextBox 10">
            <a:extLst>
              <a:ext uri="{FF2B5EF4-FFF2-40B4-BE49-F238E27FC236}">
                <a16:creationId xmlns:a16="http://schemas.microsoft.com/office/drawing/2014/main" id="{E0FE60BD-22F0-B06F-3490-B917A0411533}"/>
              </a:ext>
            </a:extLst>
          </p:cNvPr>
          <p:cNvSpPr txBox="1"/>
          <p:nvPr/>
        </p:nvSpPr>
        <p:spPr>
          <a:xfrm>
            <a:off x="6775553" y="3232372"/>
            <a:ext cx="2998034" cy="646331"/>
          </a:xfrm>
          <a:prstGeom prst="rect">
            <a:avLst/>
          </a:prstGeom>
          <a:noFill/>
        </p:spPr>
        <p:txBody>
          <a:bodyPr wrap="square" rtlCol="0">
            <a:spAutoFit/>
          </a:bodyPr>
          <a:lstStyle/>
          <a:p>
            <a:r>
              <a:rPr lang="en-IN" dirty="0"/>
              <a:t>EFFICIENT,OPTIMIZE,</a:t>
            </a:r>
          </a:p>
          <a:p>
            <a:pPr algn="ctr"/>
            <a:r>
              <a:rPr lang="en-IN" dirty="0"/>
              <a:t>FOCUS,FASTER</a:t>
            </a:r>
          </a:p>
        </p:txBody>
      </p:sp>
      <p:sp>
        <p:nvSpPr>
          <p:cNvPr id="12" name="Rectangle: Rounded Corners 11">
            <a:extLst>
              <a:ext uri="{FF2B5EF4-FFF2-40B4-BE49-F238E27FC236}">
                <a16:creationId xmlns:a16="http://schemas.microsoft.com/office/drawing/2014/main" id="{F34817E4-3FC6-DC06-4023-25EF0DA7FD3E}"/>
              </a:ext>
            </a:extLst>
          </p:cNvPr>
          <p:cNvSpPr/>
          <p:nvPr/>
        </p:nvSpPr>
        <p:spPr>
          <a:xfrm>
            <a:off x="6095999" y="4002374"/>
            <a:ext cx="1863777" cy="38599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ACCESSIBILITY</a:t>
            </a:r>
          </a:p>
        </p:txBody>
      </p:sp>
      <p:sp>
        <p:nvSpPr>
          <p:cNvPr id="13" name="TextBox 12">
            <a:extLst>
              <a:ext uri="{FF2B5EF4-FFF2-40B4-BE49-F238E27FC236}">
                <a16:creationId xmlns:a16="http://schemas.microsoft.com/office/drawing/2014/main" id="{DB725934-CFAA-BAC7-73EE-EF3E3001BDEC}"/>
              </a:ext>
            </a:extLst>
          </p:cNvPr>
          <p:cNvSpPr txBox="1"/>
          <p:nvPr/>
        </p:nvSpPr>
        <p:spPr>
          <a:xfrm>
            <a:off x="6505731" y="4512041"/>
            <a:ext cx="3867462" cy="646331"/>
          </a:xfrm>
          <a:prstGeom prst="rect">
            <a:avLst/>
          </a:prstGeom>
          <a:noFill/>
        </p:spPr>
        <p:txBody>
          <a:bodyPr wrap="square" rtlCol="0">
            <a:spAutoFit/>
          </a:bodyPr>
          <a:lstStyle/>
          <a:p>
            <a:r>
              <a:rPr lang="en-IN" dirty="0"/>
              <a:t>ACCESSIBLE,EASY,SUPPORTIVE</a:t>
            </a:r>
          </a:p>
          <a:p>
            <a:pPr algn="ctr"/>
            <a:r>
              <a:rPr lang="en-IN" dirty="0"/>
              <a:t>CLEAR,CAPTIONS</a:t>
            </a:r>
          </a:p>
        </p:txBody>
      </p:sp>
      <p:sp>
        <p:nvSpPr>
          <p:cNvPr id="15" name="Rectangle: Rounded Corners 14">
            <a:extLst>
              <a:ext uri="{FF2B5EF4-FFF2-40B4-BE49-F238E27FC236}">
                <a16:creationId xmlns:a16="http://schemas.microsoft.com/office/drawing/2014/main" id="{1D3494C1-BF74-1E11-4A9E-5805147BE49C}"/>
              </a:ext>
            </a:extLst>
          </p:cNvPr>
          <p:cNvSpPr/>
          <p:nvPr/>
        </p:nvSpPr>
        <p:spPr>
          <a:xfrm>
            <a:off x="6273381" y="5163151"/>
            <a:ext cx="1863777" cy="36104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SATISFACTION</a:t>
            </a:r>
          </a:p>
        </p:txBody>
      </p:sp>
      <p:sp>
        <p:nvSpPr>
          <p:cNvPr id="17" name="TextBox 16">
            <a:extLst>
              <a:ext uri="{FF2B5EF4-FFF2-40B4-BE49-F238E27FC236}">
                <a16:creationId xmlns:a16="http://schemas.microsoft.com/office/drawing/2014/main" id="{8A0CE716-2BE7-09A0-7DC9-70A0B112D5B3}"/>
              </a:ext>
            </a:extLst>
          </p:cNvPr>
          <p:cNvSpPr txBox="1"/>
          <p:nvPr/>
        </p:nvSpPr>
        <p:spPr>
          <a:xfrm>
            <a:off x="6610663" y="5607044"/>
            <a:ext cx="3722554" cy="646331"/>
          </a:xfrm>
          <a:prstGeom prst="rect">
            <a:avLst/>
          </a:prstGeom>
          <a:noFill/>
        </p:spPr>
        <p:txBody>
          <a:bodyPr wrap="square" rtlCol="0">
            <a:spAutoFit/>
          </a:bodyPr>
          <a:lstStyle/>
          <a:p>
            <a:r>
              <a:rPr lang="en-IN" dirty="0"/>
              <a:t>SATISFIED,CONTENT,FULFILLED,COMPLETED</a:t>
            </a:r>
          </a:p>
        </p:txBody>
      </p:sp>
    </p:spTree>
    <p:extLst>
      <p:ext uri="{BB962C8B-B14F-4D97-AF65-F5344CB8AC3E}">
        <p14:creationId xmlns:p14="http://schemas.microsoft.com/office/powerpoint/2010/main" val="2942764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E34C0-7DCC-A06A-DF8D-6AE7C375D65D}"/>
              </a:ext>
            </a:extLst>
          </p:cNvPr>
          <p:cNvSpPr>
            <a:spLocks noGrp="1"/>
          </p:cNvSpPr>
          <p:nvPr>
            <p:ph type="title"/>
          </p:nvPr>
        </p:nvSpPr>
        <p:spPr/>
        <p:txBody>
          <a:bodyPr/>
          <a:lstStyle/>
          <a:p>
            <a:r>
              <a:rPr lang="en-IN" dirty="0"/>
              <a:t>MEESHO-E-COMMERENCE APP</a:t>
            </a:r>
          </a:p>
        </p:txBody>
      </p:sp>
      <p:graphicFrame>
        <p:nvGraphicFramePr>
          <p:cNvPr id="4" name="Content Placeholder 3">
            <a:extLst>
              <a:ext uri="{FF2B5EF4-FFF2-40B4-BE49-F238E27FC236}">
                <a16:creationId xmlns:a16="http://schemas.microsoft.com/office/drawing/2014/main" id="{3CC68599-E2D1-FCE4-7642-42C6C17A8420}"/>
              </a:ext>
            </a:extLst>
          </p:cNvPr>
          <p:cNvGraphicFramePr>
            <a:graphicFrameLocks noGrp="1"/>
          </p:cNvGraphicFramePr>
          <p:nvPr>
            <p:ph idx="1"/>
            <p:extLst>
              <p:ext uri="{D42A27DB-BD31-4B8C-83A1-F6EECF244321}">
                <p14:modId xmlns:p14="http://schemas.microsoft.com/office/powerpoint/2010/main" val="415338323"/>
              </p:ext>
            </p:extLst>
          </p:nvPr>
        </p:nvGraphicFramePr>
        <p:xfrm>
          <a:off x="1295400" y="2600007"/>
          <a:ext cx="3524250" cy="365760"/>
        </p:xfrm>
        <a:graphic>
          <a:graphicData uri="http://schemas.openxmlformats.org/drawingml/2006/table">
            <a:tbl>
              <a:tblPr firstRow="1" bandRow="1">
                <a:tableStyleId>{5C22544A-7EE6-4342-B048-85BDC9FD1C3A}</a:tableStyleId>
              </a:tblPr>
              <a:tblGrid>
                <a:gridCol w="3524250">
                  <a:extLst>
                    <a:ext uri="{9D8B030D-6E8A-4147-A177-3AD203B41FA5}">
                      <a16:colId xmlns:a16="http://schemas.microsoft.com/office/drawing/2014/main" val="3662074605"/>
                    </a:ext>
                  </a:extLst>
                </a:gridCol>
              </a:tblGrid>
              <a:tr h="337503">
                <a:tc>
                  <a:txBody>
                    <a:bodyPr/>
                    <a:lstStyle/>
                    <a:p>
                      <a:r>
                        <a:rPr lang="en-IN" dirty="0"/>
                        <a:t>UI ELEMENTAL IDENTIFIED</a:t>
                      </a:r>
                    </a:p>
                  </a:txBody>
                  <a:tcPr/>
                </a:tc>
                <a:extLst>
                  <a:ext uri="{0D108BD9-81ED-4DB2-BD59-A6C34878D82A}">
                    <a16:rowId xmlns:a16="http://schemas.microsoft.com/office/drawing/2014/main" val="3474255668"/>
                  </a:ext>
                </a:extLst>
              </a:tr>
            </a:tbl>
          </a:graphicData>
        </a:graphic>
      </p:graphicFrame>
      <p:sp>
        <p:nvSpPr>
          <p:cNvPr id="5" name="Rectangle: Rounded Corners 4">
            <a:extLst>
              <a:ext uri="{FF2B5EF4-FFF2-40B4-BE49-F238E27FC236}">
                <a16:creationId xmlns:a16="http://schemas.microsoft.com/office/drawing/2014/main" id="{6A6832F6-8387-9B72-D958-8D91476FC0AD}"/>
              </a:ext>
            </a:extLst>
          </p:cNvPr>
          <p:cNvSpPr/>
          <p:nvPr/>
        </p:nvSpPr>
        <p:spPr>
          <a:xfrm>
            <a:off x="1285875" y="3279775"/>
            <a:ext cx="1771650" cy="6124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BUTTONS:</a:t>
            </a:r>
          </a:p>
        </p:txBody>
      </p:sp>
      <p:sp>
        <p:nvSpPr>
          <p:cNvPr id="6" name="Rectangle: Rounded Corners 5">
            <a:extLst>
              <a:ext uri="{FF2B5EF4-FFF2-40B4-BE49-F238E27FC236}">
                <a16:creationId xmlns:a16="http://schemas.microsoft.com/office/drawing/2014/main" id="{C1E5B1BB-6502-B565-D0BC-E0DF9327396D}"/>
              </a:ext>
            </a:extLst>
          </p:cNvPr>
          <p:cNvSpPr/>
          <p:nvPr/>
        </p:nvSpPr>
        <p:spPr>
          <a:xfrm>
            <a:off x="3333750" y="3279774"/>
            <a:ext cx="6819900" cy="6124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‘ADD TO CART’ PINK, ‘BUY NOW’PINK—HIGH CONTRAST</a:t>
            </a:r>
          </a:p>
        </p:txBody>
      </p:sp>
      <p:sp>
        <p:nvSpPr>
          <p:cNvPr id="7" name="Rectangle: Rounded Corners 6">
            <a:extLst>
              <a:ext uri="{FF2B5EF4-FFF2-40B4-BE49-F238E27FC236}">
                <a16:creationId xmlns:a16="http://schemas.microsoft.com/office/drawing/2014/main" id="{9833C5D9-2A0F-7A59-5FF8-B655E600F940}"/>
              </a:ext>
            </a:extLst>
          </p:cNvPr>
          <p:cNvSpPr/>
          <p:nvPr/>
        </p:nvSpPr>
        <p:spPr>
          <a:xfrm>
            <a:off x="1295400" y="3959543"/>
            <a:ext cx="1771650" cy="6124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FORMS:</a:t>
            </a:r>
          </a:p>
        </p:txBody>
      </p:sp>
      <p:sp>
        <p:nvSpPr>
          <p:cNvPr id="8" name="Rectangle: Rounded Corners 7">
            <a:extLst>
              <a:ext uri="{FF2B5EF4-FFF2-40B4-BE49-F238E27FC236}">
                <a16:creationId xmlns:a16="http://schemas.microsoft.com/office/drawing/2014/main" id="{934B6495-CE06-B867-01C3-FEF65B5FE897}"/>
              </a:ext>
            </a:extLst>
          </p:cNvPr>
          <p:cNvSpPr/>
          <p:nvPr/>
        </p:nvSpPr>
        <p:spPr>
          <a:xfrm>
            <a:off x="3333750" y="3959542"/>
            <a:ext cx="6819900" cy="6124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SEARCH BAR,QUANTITY SELECTOR,ADDRESS  FORM</a:t>
            </a:r>
          </a:p>
        </p:txBody>
      </p:sp>
      <p:sp>
        <p:nvSpPr>
          <p:cNvPr id="12" name="Rectangle: Rounded Corners 11">
            <a:extLst>
              <a:ext uri="{FF2B5EF4-FFF2-40B4-BE49-F238E27FC236}">
                <a16:creationId xmlns:a16="http://schemas.microsoft.com/office/drawing/2014/main" id="{70717B43-339A-00B3-E2F7-13BAA0025DDD}"/>
              </a:ext>
            </a:extLst>
          </p:cNvPr>
          <p:cNvSpPr/>
          <p:nvPr/>
        </p:nvSpPr>
        <p:spPr>
          <a:xfrm>
            <a:off x="1295400" y="4667254"/>
            <a:ext cx="1771650" cy="6124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ICONS:</a:t>
            </a:r>
          </a:p>
        </p:txBody>
      </p:sp>
      <p:sp>
        <p:nvSpPr>
          <p:cNvPr id="13" name="Rectangle: Rounded Corners 12">
            <a:extLst>
              <a:ext uri="{FF2B5EF4-FFF2-40B4-BE49-F238E27FC236}">
                <a16:creationId xmlns:a16="http://schemas.microsoft.com/office/drawing/2014/main" id="{CFB1896B-4E03-E2D2-EA8E-133D4181AD06}"/>
              </a:ext>
            </a:extLst>
          </p:cNvPr>
          <p:cNvSpPr/>
          <p:nvPr/>
        </p:nvSpPr>
        <p:spPr>
          <a:xfrm>
            <a:off x="3333750" y="4671547"/>
            <a:ext cx="6819900" cy="6124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STAR RATING VISUALLY SCANNABLE AT A GLANCE</a:t>
            </a:r>
          </a:p>
        </p:txBody>
      </p:sp>
      <p:sp>
        <p:nvSpPr>
          <p:cNvPr id="14" name="Rectangle: Rounded Corners 13">
            <a:extLst>
              <a:ext uri="{FF2B5EF4-FFF2-40B4-BE49-F238E27FC236}">
                <a16:creationId xmlns:a16="http://schemas.microsoft.com/office/drawing/2014/main" id="{C70D94CC-9BB2-D166-10DB-AAD6B8F09CF8}"/>
              </a:ext>
            </a:extLst>
          </p:cNvPr>
          <p:cNvSpPr/>
          <p:nvPr/>
        </p:nvSpPr>
        <p:spPr>
          <a:xfrm>
            <a:off x="1285875" y="5374965"/>
            <a:ext cx="1771650" cy="6124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NAVIGATION</a:t>
            </a:r>
          </a:p>
        </p:txBody>
      </p:sp>
      <p:sp>
        <p:nvSpPr>
          <p:cNvPr id="15" name="Rectangle: Rounded Corners 14">
            <a:extLst>
              <a:ext uri="{FF2B5EF4-FFF2-40B4-BE49-F238E27FC236}">
                <a16:creationId xmlns:a16="http://schemas.microsoft.com/office/drawing/2014/main" id="{354B50E5-EB12-56C9-FEBD-F646C5E658F4}"/>
              </a:ext>
            </a:extLst>
          </p:cNvPr>
          <p:cNvSpPr/>
          <p:nvPr/>
        </p:nvSpPr>
        <p:spPr>
          <a:xfrm>
            <a:off x="3314700" y="5374965"/>
            <a:ext cx="6819900" cy="6124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t>           MENU,HOME,ORDERS</a:t>
            </a:r>
          </a:p>
        </p:txBody>
      </p:sp>
    </p:spTree>
    <p:extLst>
      <p:ext uri="{BB962C8B-B14F-4D97-AF65-F5344CB8AC3E}">
        <p14:creationId xmlns:p14="http://schemas.microsoft.com/office/powerpoint/2010/main" val="1816361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717B8A-6BEF-189E-148B-2BF4EC84D8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4450" y="838200"/>
            <a:ext cx="2686050" cy="5181600"/>
          </a:xfrm>
          <a:prstGeom prst="rect">
            <a:avLst/>
          </a:prstGeom>
        </p:spPr>
      </p:pic>
      <p:sp>
        <p:nvSpPr>
          <p:cNvPr id="4" name="Rectangle: Rounded Corners 3">
            <a:extLst>
              <a:ext uri="{FF2B5EF4-FFF2-40B4-BE49-F238E27FC236}">
                <a16:creationId xmlns:a16="http://schemas.microsoft.com/office/drawing/2014/main" id="{2619E299-06F2-D0B1-BB82-B7EE9EDF9B0C}"/>
              </a:ext>
            </a:extLst>
          </p:cNvPr>
          <p:cNvSpPr/>
          <p:nvPr/>
        </p:nvSpPr>
        <p:spPr>
          <a:xfrm>
            <a:off x="5672684" y="359762"/>
            <a:ext cx="4933950" cy="60110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5" name="Rectangle: Rounded Corners 4">
            <a:extLst>
              <a:ext uri="{FF2B5EF4-FFF2-40B4-BE49-F238E27FC236}">
                <a16:creationId xmlns:a16="http://schemas.microsoft.com/office/drawing/2014/main" id="{2CCA81C3-26C4-4BA0-49EC-48273C94AB2C}"/>
              </a:ext>
            </a:extLst>
          </p:cNvPr>
          <p:cNvSpPr/>
          <p:nvPr/>
        </p:nvSpPr>
        <p:spPr>
          <a:xfrm>
            <a:off x="6553202" y="838200"/>
            <a:ext cx="3276600" cy="7620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3200" dirty="0"/>
              <a:t>UX ANALYSIS</a:t>
            </a:r>
          </a:p>
        </p:txBody>
      </p:sp>
      <p:sp>
        <p:nvSpPr>
          <p:cNvPr id="6" name="Rectangle: Rounded Corners 5">
            <a:extLst>
              <a:ext uri="{FF2B5EF4-FFF2-40B4-BE49-F238E27FC236}">
                <a16:creationId xmlns:a16="http://schemas.microsoft.com/office/drawing/2014/main" id="{FC6589E7-CE97-45DB-9801-00972675768A}"/>
              </a:ext>
            </a:extLst>
          </p:cNvPr>
          <p:cNvSpPr/>
          <p:nvPr/>
        </p:nvSpPr>
        <p:spPr>
          <a:xfrm>
            <a:off x="5956723" y="1853159"/>
            <a:ext cx="2182936" cy="46469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EASE TO USE</a:t>
            </a:r>
          </a:p>
        </p:txBody>
      </p:sp>
      <p:sp>
        <p:nvSpPr>
          <p:cNvPr id="8" name="TextBox 7">
            <a:extLst>
              <a:ext uri="{FF2B5EF4-FFF2-40B4-BE49-F238E27FC236}">
                <a16:creationId xmlns:a16="http://schemas.microsoft.com/office/drawing/2014/main" id="{FC9DA42C-834D-25D4-024D-4B6ED2098C90}"/>
              </a:ext>
            </a:extLst>
          </p:cNvPr>
          <p:cNvSpPr txBox="1"/>
          <p:nvPr/>
        </p:nvSpPr>
        <p:spPr>
          <a:xfrm>
            <a:off x="6658133" y="2402173"/>
            <a:ext cx="3745041" cy="646331"/>
          </a:xfrm>
          <a:prstGeom prst="rect">
            <a:avLst/>
          </a:prstGeom>
          <a:noFill/>
        </p:spPr>
        <p:txBody>
          <a:bodyPr wrap="square" rtlCol="0">
            <a:spAutoFit/>
          </a:bodyPr>
          <a:lstStyle/>
          <a:p>
            <a:r>
              <a:rPr lang="en-IN" dirty="0"/>
              <a:t>USER  FRIENDLY,SMOOTH TO USE,EASY SHOPPING</a:t>
            </a:r>
          </a:p>
        </p:txBody>
      </p:sp>
      <p:sp>
        <p:nvSpPr>
          <p:cNvPr id="11" name="Rectangle: Rounded Corners 10">
            <a:extLst>
              <a:ext uri="{FF2B5EF4-FFF2-40B4-BE49-F238E27FC236}">
                <a16:creationId xmlns:a16="http://schemas.microsoft.com/office/drawing/2014/main" id="{0A175D2E-0B8C-40B7-24E0-5B94BD46756A}"/>
              </a:ext>
            </a:extLst>
          </p:cNvPr>
          <p:cNvSpPr/>
          <p:nvPr/>
        </p:nvSpPr>
        <p:spPr>
          <a:xfrm>
            <a:off x="5956723" y="3035507"/>
            <a:ext cx="2182936" cy="46469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EFFICIENCY</a:t>
            </a:r>
          </a:p>
        </p:txBody>
      </p:sp>
      <p:sp>
        <p:nvSpPr>
          <p:cNvPr id="12" name="Rectangle: Rounded Corners 11">
            <a:extLst>
              <a:ext uri="{FF2B5EF4-FFF2-40B4-BE49-F238E27FC236}">
                <a16:creationId xmlns:a16="http://schemas.microsoft.com/office/drawing/2014/main" id="{21187F69-36A9-0314-B4C1-A7EEFE3B481D}"/>
              </a:ext>
            </a:extLst>
          </p:cNvPr>
          <p:cNvSpPr/>
          <p:nvPr/>
        </p:nvSpPr>
        <p:spPr>
          <a:xfrm>
            <a:off x="5956723" y="4309111"/>
            <a:ext cx="2182936" cy="46469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ACCESSABILITY</a:t>
            </a:r>
          </a:p>
        </p:txBody>
      </p:sp>
      <p:sp>
        <p:nvSpPr>
          <p:cNvPr id="13" name="TextBox 12">
            <a:extLst>
              <a:ext uri="{FF2B5EF4-FFF2-40B4-BE49-F238E27FC236}">
                <a16:creationId xmlns:a16="http://schemas.microsoft.com/office/drawing/2014/main" id="{2ABFF56C-1195-D327-E8AC-D641B7A6F181}"/>
              </a:ext>
            </a:extLst>
          </p:cNvPr>
          <p:cNvSpPr txBox="1"/>
          <p:nvPr/>
        </p:nvSpPr>
        <p:spPr>
          <a:xfrm>
            <a:off x="6850505" y="3581491"/>
            <a:ext cx="2979297" cy="646331"/>
          </a:xfrm>
          <a:prstGeom prst="rect">
            <a:avLst/>
          </a:prstGeom>
          <a:noFill/>
        </p:spPr>
        <p:txBody>
          <a:bodyPr wrap="square" rtlCol="0">
            <a:spAutoFit/>
          </a:bodyPr>
          <a:lstStyle/>
          <a:p>
            <a:r>
              <a:rPr lang="en-IN" dirty="0"/>
              <a:t>EFFICIENT,FAST,QUICK,</a:t>
            </a:r>
          </a:p>
          <a:p>
            <a:r>
              <a:rPr lang="en-IN" dirty="0"/>
              <a:t>SMART.</a:t>
            </a:r>
          </a:p>
        </p:txBody>
      </p:sp>
      <p:sp>
        <p:nvSpPr>
          <p:cNvPr id="14" name="TextBox 13">
            <a:extLst>
              <a:ext uri="{FF2B5EF4-FFF2-40B4-BE49-F238E27FC236}">
                <a16:creationId xmlns:a16="http://schemas.microsoft.com/office/drawing/2014/main" id="{33B873B3-DDF8-93D0-2437-736E2FF3E3E3}"/>
              </a:ext>
            </a:extLst>
          </p:cNvPr>
          <p:cNvSpPr txBox="1"/>
          <p:nvPr/>
        </p:nvSpPr>
        <p:spPr>
          <a:xfrm>
            <a:off x="7043495" y="4855095"/>
            <a:ext cx="3563139" cy="369332"/>
          </a:xfrm>
          <a:prstGeom prst="rect">
            <a:avLst/>
          </a:prstGeom>
          <a:noFill/>
        </p:spPr>
        <p:txBody>
          <a:bodyPr wrap="square" rtlCol="0">
            <a:spAutoFit/>
          </a:bodyPr>
          <a:lstStyle/>
          <a:p>
            <a:r>
              <a:rPr lang="en-IN" dirty="0"/>
              <a:t>ACCESSIBLE,USABLE,FLEXIBLE</a:t>
            </a:r>
          </a:p>
        </p:txBody>
      </p:sp>
      <p:sp>
        <p:nvSpPr>
          <p:cNvPr id="16" name="Rectangle: Rounded Corners 15">
            <a:extLst>
              <a:ext uri="{FF2B5EF4-FFF2-40B4-BE49-F238E27FC236}">
                <a16:creationId xmlns:a16="http://schemas.microsoft.com/office/drawing/2014/main" id="{E9FAAB0D-2113-7A5B-293E-7ABE1A437B5F}"/>
              </a:ext>
            </a:extLst>
          </p:cNvPr>
          <p:cNvSpPr/>
          <p:nvPr/>
        </p:nvSpPr>
        <p:spPr>
          <a:xfrm>
            <a:off x="6008566" y="5224427"/>
            <a:ext cx="2182936" cy="46469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SATISFACTION</a:t>
            </a:r>
          </a:p>
        </p:txBody>
      </p:sp>
      <p:sp>
        <p:nvSpPr>
          <p:cNvPr id="17" name="TextBox 16">
            <a:extLst>
              <a:ext uri="{FF2B5EF4-FFF2-40B4-BE49-F238E27FC236}">
                <a16:creationId xmlns:a16="http://schemas.microsoft.com/office/drawing/2014/main" id="{8877A79F-C03E-1F72-7DFD-9C32FC5D060B}"/>
              </a:ext>
            </a:extLst>
          </p:cNvPr>
          <p:cNvSpPr txBox="1"/>
          <p:nvPr/>
        </p:nvSpPr>
        <p:spPr>
          <a:xfrm>
            <a:off x="6916087" y="5748224"/>
            <a:ext cx="3382156" cy="646331"/>
          </a:xfrm>
          <a:prstGeom prst="rect">
            <a:avLst/>
          </a:prstGeom>
          <a:noFill/>
        </p:spPr>
        <p:txBody>
          <a:bodyPr wrap="square" rtlCol="0">
            <a:spAutoFit/>
          </a:bodyPr>
          <a:lstStyle/>
          <a:p>
            <a:r>
              <a:rPr lang="en-IN" dirty="0"/>
              <a:t>SATISFIED,FAST DELIVERY,</a:t>
            </a:r>
          </a:p>
          <a:p>
            <a:r>
              <a:rPr lang="en-IN" dirty="0"/>
              <a:t>QUALITY PRODUCT</a:t>
            </a:r>
          </a:p>
        </p:txBody>
      </p:sp>
    </p:spTree>
    <p:extLst>
      <p:ext uri="{BB962C8B-B14F-4D97-AF65-F5344CB8AC3E}">
        <p14:creationId xmlns:p14="http://schemas.microsoft.com/office/powerpoint/2010/main" val="4126147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1AD5F-9865-A6F6-80AF-81ACCC8F0271}"/>
              </a:ext>
            </a:extLst>
          </p:cNvPr>
          <p:cNvSpPr>
            <a:spLocks noGrp="1"/>
          </p:cNvSpPr>
          <p:nvPr>
            <p:ph type="title"/>
          </p:nvPr>
        </p:nvSpPr>
        <p:spPr/>
        <p:txBody>
          <a:bodyPr>
            <a:normAutofit fontScale="90000"/>
          </a:bodyPr>
          <a:lstStyle/>
          <a:p>
            <a:r>
              <a:rPr lang="en-IN" dirty="0"/>
              <a:t>SNAPCHAT-MULTIMEDIA INSTANT APP</a:t>
            </a:r>
          </a:p>
        </p:txBody>
      </p:sp>
      <p:graphicFrame>
        <p:nvGraphicFramePr>
          <p:cNvPr id="4" name="Content Placeholder 3">
            <a:extLst>
              <a:ext uri="{FF2B5EF4-FFF2-40B4-BE49-F238E27FC236}">
                <a16:creationId xmlns:a16="http://schemas.microsoft.com/office/drawing/2014/main" id="{4ADFE583-0DCB-2274-7256-2B3165E041DE}"/>
              </a:ext>
            </a:extLst>
          </p:cNvPr>
          <p:cNvGraphicFramePr>
            <a:graphicFrameLocks noGrp="1"/>
          </p:cNvGraphicFramePr>
          <p:nvPr>
            <p:ph idx="1"/>
            <p:extLst>
              <p:ext uri="{D42A27DB-BD31-4B8C-83A1-F6EECF244321}">
                <p14:modId xmlns:p14="http://schemas.microsoft.com/office/powerpoint/2010/main" val="3698023578"/>
              </p:ext>
            </p:extLst>
          </p:nvPr>
        </p:nvGraphicFramePr>
        <p:xfrm>
          <a:off x="1295400" y="2557463"/>
          <a:ext cx="3790950" cy="370840"/>
        </p:xfrm>
        <a:graphic>
          <a:graphicData uri="http://schemas.openxmlformats.org/drawingml/2006/table">
            <a:tbl>
              <a:tblPr firstRow="1" bandRow="1">
                <a:tableStyleId>{5C22544A-7EE6-4342-B048-85BDC9FD1C3A}</a:tableStyleId>
              </a:tblPr>
              <a:tblGrid>
                <a:gridCol w="3790950">
                  <a:extLst>
                    <a:ext uri="{9D8B030D-6E8A-4147-A177-3AD203B41FA5}">
                      <a16:colId xmlns:a16="http://schemas.microsoft.com/office/drawing/2014/main" val="1578178872"/>
                    </a:ext>
                  </a:extLst>
                </a:gridCol>
              </a:tblGrid>
              <a:tr h="370840">
                <a:tc>
                  <a:txBody>
                    <a:bodyPr/>
                    <a:lstStyle/>
                    <a:p>
                      <a:r>
                        <a:rPr lang="en-IN" dirty="0"/>
                        <a:t>UI ELEMENTAL IDENTIFIED</a:t>
                      </a:r>
                    </a:p>
                  </a:txBody>
                  <a:tcPr/>
                </a:tc>
                <a:extLst>
                  <a:ext uri="{0D108BD9-81ED-4DB2-BD59-A6C34878D82A}">
                    <a16:rowId xmlns:a16="http://schemas.microsoft.com/office/drawing/2014/main" val="2220509128"/>
                  </a:ext>
                </a:extLst>
              </a:tr>
            </a:tbl>
          </a:graphicData>
        </a:graphic>
      </p:graphicFrame>
      <p:sp>
        <p:nvSpPr>
          <p:cNvPr id="5" name="Rectangle: Rounded Corners 4">
            <a:extLst>
              <a:ext uri="{FF2B5EF4-FFF2-40B4-BE49-F238E27FC236}">
                <a16:creationId xmlns:a16="http://schemas.microsoft.com/office/drawing/2014/main" id="{0AC42172-8C8B-91DE-4590-C8060380306A}"/>
              </a:ext>
            </a:extLst>
          </p:cNvPr>
          <p:cNvSpPr/>
          <p:nvPr/>
        </p:nvSpPr>
        <p:spPr>
          <a:xfrm>
            <a:off x="1295400" y="3178651"/>
            <a:ext cx="1409700" cy="5006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ICONS:</a:t>
            </a:r>
          </a:p>
        </p:txBody>
      </p:sp>
      <p:sp>
        <p:nvSpPr>
          <p:cNvPr id="6" name="Rectangle: Rounded Corners 5">
            <a:extLst>
              <a:ext uri="{FF2B5EF4-FFF2-40B4-BE49-F238E27FC236}">
                <a16:creationId xmlns:a16="http://schemas.microsoft.com/office/drawing/2014/main" id="{D1EDCA39-6A38-B028-DAB0-3011FA676558}"/>
              </a:ext>
            </a:extLst>
          </p:cNvPr>
          <p:cNvSpPr/>
          <p:nvPr/>
        </p:nvSpPr>
        <p:spPr>
          <a:xfrm>
            <a:off x="2914650" y="3199767"/>
            <a:ext cx="6667500" cy="5006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CAMERA,SEARCH,CREATE,SPOTLIGHT,LIKE,SAVE,MESSAGE,COMMENT,PROFILE</a:t>
            </a:r>
          </a:p>
        </p:txBody>
      </p:sp>
      <p:sp>
        <p:nvSpPr>
          <p:cNvPr id="7" name="Rectangle: Rounded Corners 6">
            <a:extLst>
              <a:ext uri="{FF2B5EF4-FFF2-40B4-BE49-F238E27FC236}">
                <a16:creationId xmlns:a16="http://schemas.microsoft.com/office/drawing/2014/main" id="{52DB7052-FBC4-22DF-8ABA-F7EF2DEAC7B3}"/>
              </a:ext>
            </a:extLst>
          </p:cNvPr>
          <p:cNvSpPr/>
          <p:nvPr/>
        </p:nvSpPr>
        <p:spPr>
          <a:xfrm>
            <a:off x="1295400" y="3929697"/>
            <a:ext cx="1409700" cy="5006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BUTTON:</a:t>
            </a:r>
          </a:p>
        </p:txBody>
      </p:sp>
      <p:sp>
        <p:nvSpPr>
          <p:cNvPr id="8" name="Rectangle: Rounded Corners 7">
            <a:extLst>
              <a:ext uri="{FF2B5EF4-FFF2-40B4-BE49-F238E27FC236}">
                <a16:creationId xmlns:a16="http://schemas.microsoft.com/office/drawing/2014/main" id="{8936813F-561B-1238-82F3-CC72C4E85375}"/>
              </a:ext>
            </a:extLst>
          </p:cNvPr>
          <p:cNvSpPr/>
          <p:nvPr/>
        </p:nvSpPr>
        <p:spPr>
          <a:xfrm>
            <a:off x="2914650" y="3971929"/>
            <a:ext cx="6667500" cy="5006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LOG IN,SIGN IN, FOLLOW,BACK’SHARE</a:t>
            </a:r>
          </a:p>
        </p:txBody>
      </p:sp>
      <p:sp>
        <p:nvSpPr>
          <p:cNvPr id="9" name="Rectangle: Rounded Corners 8">
            <a:extLst>
              <a:ext uri="{FF2B5EF4-FFF2-40B4-BE49-F238E27FC236}">
                <a16:creationId xmlns:a16="http://schemas.microsoft.com/office/drawing/2014/main" id="{EAD1E464-B611-89B7-7485-B8FE6CEFE36B}"/>
              </a:ext>
            </a:extLst>
          </p:cNvPr>
          <p:cNvSpPr/>
          <p:nvPr/>
        </p:nvSpPr>
        <p:spPr>
          <a:xfrm>
            <a:off x="2914650" y="4663768"/>
            <a:ext cx="6667500" cy="5006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USERNAME,PASSWORD,PHONE NUMBER,NAME</a:t>
            </a:r>
          </a:p>
        </p:txBody>
      </p:sp>
      <p:sp>
        <p:nvSpPr>
          <p:cNvPr id="10" name="Rectangle: Rounded Corners 9">
            <a:extLst>
              <a:ext uri="{FF2B5EF4-FFF2-40B4-BE49-F238E27FC236}">
                <a16:creationId xmlns:a16="http://schemas.microsoft.com/office/drawing/2014/main" id="{E552C48F-CA69-EDD3-8B49-3D04F3B2911E}"/>
              </a:ext>
            </a:extLst>
          </p:cNvPr>
          <p:cNvSpPr/>
          <p:nvPr/>
        </p:nvSpPr>
        <p:spPr>
          <a:xfrm>
            <a:off x="2914650" y="5351484"/>
            <a:ext cx="6667500" cy="5006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MENU,HOME,NOTIFICATION,BACK BUTTON</a:t>
            </a:r>
          </a:p>
        </p:txBody>
      </p:sp>
      <p:sp>
        <p:nvSpPr>
          <p:cNvPr id="11" name="Rectangle: Rounded Corners 10">
            <a:extLst>
              <a:ext uri="{FF2B5EF4-FFF2-40B4-BE49-F238E27FC236}">
                <a16:creationId xmlns:a16="http://schemas.microsoft.com/office/drawing/2014/main" id="{652EBBBA-6F58-472C-48D8-BB443A1CD7AD}"/>
              </a:ext>
            </a:extLst>
          </p:cNvPr>
          <p:cNvSpPr/>
          <p:nvPr/>
        </p:nvSpPr>
        <p:spPr>
          <a:xfrm>
            <a:off x="1295400" y="4663768"/>
            <a:ext cx="1409700" cy="5006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FORMS:</a:t>
            </a:r>
          </a:p>
        </p:txBody>
      </p:sp>
      <p:sp>
        <p:nvSpPr>
          <p:cNvPr id="12" name="Rectangle: Rounded Corners 11">
            <a:extLst>
              <a:ext uri="{FF2B5EF4-FFF2-40B4-BE49-F238E27FC236}">
                <a16:creationId xmlns:a16="http://schemas.microsoft.com/office/drawing/2014/main" id="{9F17BA3E-37A5-1F97-3164-6C9112E14133}"/>
              </a:ext>
            </a:extLst>
          </p:cNvPr>
          <p:cNvSpPr/>
          <p:nvPr/>
        </p:nvSpPr>
        <p:spPr>
          <a:xfrm>
            <a:off x="1295400" y="5351484"/>
            <a:ext cx="1409700" cy="5006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NAVIGATION:</a:t>
            </a:r>
          </a:p>
        </p:txBody>
      </p:sp>
    </p:spTree>
    <p:extLst>
      <p:ext uri="{BB962C8B-B14F-4D97-AF65-F5344CB8AC3E}">
        <p14:creationId xmlns:p14="http://schemas.microsoft.com/office/powerpoint/2010/main" val="819682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BD32CCB0-8B75-ED08-8FB1-8F5CA283DF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847724"/>
            <a:ext cx="4610100" cy="5191125"/>
          </a:xfrm>
          <a:prstGeom prst="rect">
            <a:avLst/>
          </a:prstGeom>
        </p:spPr>
      </p:pic>
      <p:sp>
        <p:nvSpPr>
          <p:cNvPr id="14" name="Rectangle: Rounded Corners 13">
            <a:extLst>
              <a:ext uri="{FF2B5EF4-FFF2-40B4-BE49-F238E27FC236}">
                <a16:creationId xmlns:a16="http://schemas.microsoft.com/office/drawing/2014/main" id="{7BF79D2A-E659-0257-1680-DE1326085F04}"/>
              </a:ext>
            </a:extLst>
          </p:cNvPr>
          <p:cNvSpPr/>
          <p:nvPr/>
        </p:nvSpPr>
        <p:spPr>
          <a:xfrm>
            <a:off x="6096000" y="388284"/>
            <a:ext cx="4495800" cy="61624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Rectangle: Rounded Corners 14">
            <a:extLst>
              <a:ext uri="{FF2B5EF4-FFF2-40B4-BE49-F238E27FC236}">
                <a16:creationId xmlns:a16="http://schemas.microsoft.com/office/drawing/2014/main" id="{25BE5117-76ED-4371-E705-4489AA2D1885}"/>
              </a:ext>
            </a:extLst>
          </p:cNvPr>
          <p:cNvSpPr/>
          <p:nvPr/>
        </p:nvSpPr>
        <p:spPr>
          <a:xfrm>
            <a:off x="6588644" y="603354"/>
            <a:ext cx="3371850" cy="685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800" dirty="0">
                <a:latin typeface="Bell MT" panose="02020503060305020303" pitchFamily="18" charset="0"/>
              </a:rPr>
              <a:t>UX ANALYSIS</a:t>
            </a:r>
          </a:p>
        </p:txBody>
      </p:sp>
      <p:sp>
        <p:nvSpPr>
          <p:cNvPr id="2" name="Rectangle: Rounded Corners 1">
            <a:extLst>
              <a:ext uri="{FF2B5EF4-FFF2-40B4-BE49-F238E27FC236}">
                <a16:creationId xmlns:a16="http://schemas.microsoft.com/office/drawing/2014/main" id="{D29BC029-7B47-82F2-32BF-8DD6D9A0F7B4}"/>
              </a:ext>
            </a:extLst>
          </p:cNvPr>
          <p:cNvSpPr/>
          <p:nvPr/>
        </p:nvSpPr>
        <p:spPr>
          <a:xfrm>
            <a:off x="6401268" y="1526757"/>
            <a:ext cx="1857843" cy="49467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EASE TO USE</a:t>
            </a:r>
          </a:p>
        </p:txBody>
      </p:sp>
      <p:sp>
        <p:nvSpPr>
          <p:cNvPr id="6" name="TextBox 5">
            <a:extLst>
              <a:ext uri="{FF2B5EF4-FFF2-40B4-BE49-F238E27FC236}">
                <a16:creationId xmlns:a16="http://schemas.microsoft.com/office/drawing/2014/main" id="{B0D3527A-2D41-E6B5-5A5C-FC0102EC8485}"/>
              </a:ext>
            </a:extLst>
          </p:cNvPr>
          <p:cNvSpPr txBox="1"/>
          <p:nvPr/>
        </p:nvSpPr>
        <p:spPr>
          <a:xfrm>
            <a:off x="7018673" y="2199589"/>
            <a:ext cx="3132006" cy="646331"/>
          </a:xfrm>
          <a:prstGeom prst="rect">
            <a:avLst/>
          </a:prstGeom>
          <a:noFill/>
        </p:spPr>
        <p:txBody>
          <a:bodyPr wrap="square" rtlCol="0">
            <a:spAutoFit/>
          </a:bodyPr>
          <a:lstStyle/>
          <a:p>
            <a:r>
              <a:rPr lang="en-IN" dirty="0"/>
              <a:t>FAST,CONVENIENT,FUN</a:t>
            </a:r>
          </a:p>
          <a:p>
            <a:r>
              <a:rPr lang="en-IN" dirty="0"/>
              <a:t>ACCESSIBLE</a:t>
            </a:r>
          </a:p>
        </p:txBody>
      </p:sp>
      <p:sp>
        <p:nvSpPr>
          <p:cNvPr id="7" name="Rectangle: Rounded Corners 6">
            <a:extLst>
              <a:ext uri="{FF2B5EF4-FFF2-40B4-BE49-F238E27FC236}">
                <a16:creationId xmlns:a16="http://schemas.microsoft.com/office/drawing/2014/main" id="{0D19E7FB-C69C-6873-2CBD-63BA07FB2AFD}"/>
              </a:ext>
            </a:extLst>
          </p:cNvPr>
          <p:cNvSpPr/>
          <p:nvPr/>
        </p:nvSpPr>
        <p:spPr>
          <a:xfrm>
            <a:off x="6416726" y="2871203"/>
            <a:ext cx="1857843" cy="49467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EFFICIENCY</a:t>
            </a:r>
          </a:p>
        </p:txBody>
      </p:sp>
      <p:sp>
        <p:nvSpPr>
          <p:cNvPr id="8" name="TextBox 7">
            <a:extLst>
              <a:ext uri="{FF2B5EF4-FFF2-40B4-BE49-F238E27FC236}">
                <a16:creationId xmlns:a16="http://schemas.microsoft.com/office/drawing/2014/main" id="{40439C0C-4517-827A-BCAD-CA4C76743D87}"/>
              </a:ext>
            </a:extLst>
          </p:cNvPr>
          <p:cNvSpPr txBox="1"/>
          <p:nvPr/>
        </p:nvSpPr>
        <p:spPr>
          <a:xfrm>
            <a:off x="7066921" y="3408293"/>
            <a:ext cx="3035509" cy="646331"/>
          </a:xfrm>
          <a:prstGeom prst="rect">
            <a:avLst/>
          </a:prstGeom>
          <a:noFill/>
        </p:spPr>
        <p:txBody>
          <a:bodyPr wrap="square" rtlCol="0">
            <a:spAutoFit/>
          </a:bodyPr>
          <a:lstStyle/>
          <a:p>
            <a:r>
              <a:rPr lang="en-IN" dirty="0"/>
              <a:t>EFFICIENT,SHARP,SNAPPY,</a:t>
            </a:r>
          </a:p>
          <a:p>
            <a:r>
              <a:rPr lang="en-IN" dirty="0"/>
              <a:t>STREAMLINED</a:t>
            </a:r>
          </a:p>
        </p:txBody>
      </p:sp>
      <p:sp>
        <p:nvSpPr>
          <p:cNvPr id="9" name="Rectangle: Rounded Corners 8">
            <a:extLst>
              <a:ext uri="{FF2B5EF4-FFF2-40B4-BE49-F238E27FC236}">
                <a16:creationId xmlns:a16="http://schemas.microsoft.com/office/drawing/2014/main" id="{D8121593-970F-F78E-9CED-059D4CB2A39F}"/>
              </a:ext>
            </a:extLst>
          </p:cNvPr>
          <p:cNvSpPr/>
          <p:nvPr/>
        </p:nvSpPr>
        <p:spPr>
          <a:xfrm>
            <a:off x="6395647" y="4031579"/>
            <a:ext cx="2074732" cy="49467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ACCESSABILITY</a:t>
            </a:r>
          </a:p>
        </p:txBody>
      </p:sp>
      <p:sp>
        <p:nvSpPr>
          <p:cNvPr id="10" name="TextBox 9">
            <a:extLst>
              <a:ext uri="{FF2B5EF4-FFF2-40B4-BE49-F238E27FC236}">
                <a16:creationId xmlns:a16="http://schemas.microsoft.com/office/drawing/2014/main" id="{ECF7E0C9-00D5-1F37-F447-19063D17FFEE}"/>
              </a:ext>
            </a:extLst>
          </p:cNvPr>
          <p:cNvSpPr txBox="1"/>
          <p:nvPr/>
        </p:nvSpPr>
        <p:spPr>
          <a:xfrm>
            <a:off x="7034600" y="4581981"/>
            <a:ext cx="3132006" cy="646331"/>
          </a:xfrm>
          <a:prstGeom prst="rect">
            <a:avLst/>
          </a:prstGeom>
          <a:noFill/>
        </p:spPr>
        <p:txBody>
          <a:bodyPr wrap="square" rtlCol="0">
            <a:spAutoFit/>
          </a:bodyPr>
          <a:lstStyle/>
          <a:p>
            <a:r>
              <a:rPr lang="en-IN" dirty="0"/>
              <a:t>ZOOM,CONTRAST,COLOR FILTER</a:t>
            </a:r>
          </a:p>
        </p:txBody>
      </p:sp>
      <p:sp>
        <p:nvSpPr>
          <p:cNvPr id="12" name="Rectangle: Rounded Corners 11">
            <a:extLst>
              <a:ext uri="{FF2B5EF4-FFF2-40B4-BE49-F238E27FC236}">
                <a16:creationId xmlns:a16="http://schemas.microsoft.com/office/drawing/2014/main" id="{634BEF23-44CF-CBE9-D2F4-CBB782C44A71}"/>
              </a:ext>
            </a:extLst>
          </p:cNvPr>
          <p:cNvSpPr/>
          <p:nvPr/>
        </p:nvSpPr>
        <p:spPr>
          <a:xfrm>
            <a:off x="6390026" y="5324412"/>
            <a:ext cx="2074732" cy="49467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SATISFACTION</a:t>
            </a:r>
          </a:p>
        </p:txBody>
      </p:sp>
      <p:sp>
        <p:nvSpPr>
          <p:cNvPr id="16" name="TextBox 15">
            <a:extLst>
              <a:ext uri="{FF2B5EF4-FFF2-40B4-BE49-F238E27FC236}">
                <a16:creationId xmlns:a16="http://schemas.microsoft.com/office/drawing/2014/main" id="{4B255F9C-0B18-789F-E95C-FA459AC6C9B9}"/>
              </a:ext>
            </a:extLst>
          </p:cNvPr>
          <p:cNvSpPr txBox="1"/>
          <p:nvPr/>
        </p:nvSpPr>
        <p:spPr>
          <a:xfrm>
            <a:off x="7100653" y="5842884"/>
            <a:ext cx="2728210" cy="646331"/>
          </a:xfrm>
          <a:prstGeom prst="rect">
            <a:avLst/>
          </a:prstGeom>
          <a:noFill/>
        </p:spPr>
        <p:txBody>
          <a:bodyPr wrap="square" rtlCol="0">
            <a:spAutoFit/>
          </a:bodyPr>
          <a:lstStyle/>
          <a:p>
            <a:r>
              <a:rPr lang="en-IN" dirty="0"/>
              <a:t>EXECELLENT,GREAT,</a:t>
            </a:r>
          </a:p>
          <a:p>
            <a:r>
              <a:rPr lang="en-IN" dirty="0"/>
              <a:t>VERY SATISFIED</a:t>
            </a:r>
          </a:p>
        </p:txBody>
      </p:sp>
    </p:spTree>
    <p:extLst>
      <p:ext uri="{BB962C8B-B14F-4D97-AF65-F5344CB8AC3E}">
        <p14:creationId xmlns:p14="http://schemas.microsoft.com/office/powerpoint/2010/main" val="2070596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02B22-BA14-C249-EC59-D692F9A32417}"/>
              </a:ext>
            </a:extLst>
          </p:cNvPr>
          <p:cNvSpPr>
            <a:spLocks noGrp="1"/>
          </p:cNvSpPr>
          <p:nvPr>
            <p:ph type="title"/>
          </p:nvPr>
        </p:nvSpPr>
        <p:spPr/>
        <p:txBody>
          <a:bodyPr/>
          <a:lstStyle/>
          <a:p>
            <a:r>
              <a:rPr lang="en-IN" dirty="0"/>
              <a:t>SPOTIFY-SOCIAL MEDIA APP</a:t>
            </a:r>
          </a:p>
        </p:txBody>
      </p:sp>
      <p:graphicFrame>
        <p:nvGraphicFramePr>
          <p:cNvPr id="4" name="Content Placeholder 3">
            <a:extLst>
              <a:ext uri="{FF2B5EF4-FFF2-40B4-BE49-F238E27FC236}">
                <a16:creationId xmlns:a16="http://schemas.microsoft.com/office/drawing/2014/main" id="{E6125B4F-6866-9955-41FE-DDC8FC53339A}"/>
              </a:ext>
            </a:extLst>
          </p:cNvPr>
          <p:cNvGraphicFramePr>
            <a:graphicFrameLocks noGrp="1"/>
          </p:cNvGraphicFramePr>
          <p:nvPr>
            <p:ph idx="1"/>
            <p:extLst>
              <p:ext uri="{D42A27DB-BD31-4B8C-83A1-F6EECF244321}">
                <p14:modId xmlns:p14="http://schemas.microsoft.com/office/powerpoint/2010/main" val="1947922853"/>
              </p:ext>
            </p:extLst>
          </p:nvPr>
        </p:nvGraphicFramePr>
        <p:xfrm>
          <a:off x="1295400" y="2557463"/>
          <a:ext cx="3636364" cy="370840"/>
        </p:xfrm>
        <a:graphic>
          <a:graphicData uri="http://schemas.openxmlformats.org/drawingml/2006/table">
            <a:tbl>
              <a:tblPr firstRow="1" bandRow="1">
                <a:tableStyleId>{5C22544A-7EE6-4342-B048-85BDC9FD1C3A}</a:tableStyleId>
              </a:tblPr>
              <a:tblGrid>
                <a:gridCol w="3636364">
                  <a:extLst>
                    <a:ext uri="{9D8B030D-6E8A-4147-A177-3AD203B41FA5}">
                      <a16:colId xmlns:a16="http://schemas.microsoft.com/office/drawing/2014/main" val="4112432736"/>
                    </a:ext>
                  </a:extLst>
                </a:gridCol>
              </a:tblGrid>
              <a:tr h="370840">
                <a:tc>
                  <a:txBody>
                    <a:bodyPr/>
                    <a:lstStyle/>
                    <a:p>
                      <a:r>
                        <a:rPr lang="en-IN" dirty="0"/>
                        <a:t>UI ELEMENTAL IDENTIFIED</a:t>
                      </a:r>
                    </a:p>
                  </a:txBody>
                  <a:tcPr/>
                </a:tc>
                <a:extLst>
                  <a:ext uri="{0D108BD9-81ED-4DB2-BD59-A6C34878D82A}">
                    <a16:rowId xmlns:a16="http://schemas.microsoft.com/office/drawing/2014/main" val="4115366793"/>
                  </a:ext>
                </a:extLst>
              </a:tr>
            </a:tbl>
          </a:graphicData>
        </a:graphic>
      </p:graphicFrame>
      <p:sp>
        <p:nvSpPr>
          <p:cNvPr id="5" name="Rectangle: Rounded Corners 4">
            <a:extLst>
              <a:ext uri="{FF2B5EF4-FFF2-40B4-BE49-F238E27FC236}">
                <a16:creationId xmlns:a16="http://schemas.microsoft.com/office/drawing/2014/main" id="{B95654DF-A5D4-0C9A-C95F-4C9B897BE869}"/>
              </a:ext>
            </a:extLst>
          </p:cNvPr>
          <p:cNvSpPr/>
          <p:nvPr/>
        </p:nvSpPr>
        <p:spPr>
          <a:xfrm>
            <a:off x="1295400" y="3199767"/>
            <a:ext cx="1432810" cy="4803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BUTTONS</a:t>
            </a:r>
          </a:p>
        </p:txBody>
      </p:sp>
      <p:sp>
        <p:nvSpPr>
          <p:cNvPr id="6" name="Rectangle: Rounded Corners 5">
            <a:extLst>
              <a:ext uri="{FF2B5EF4-FFF2-40B4-BE49-F238E27FC236}">
                <a16:creationId xmlns:a16="http://schemas.microsoft.com/office/drawing/2014/main" id="{42D6F2E8-8463-3052-B507-326052719686}"/>
              </a:ext>
            </a:extLst>
          </p:cNvPr>
          <p:cNvSpPr/>
          <p:nvPr/>
        </p:nvSpPr>
        <p:spPr>
          <a:xfrm>
            <a:off x="2976796" y="3199767"/>
            <a:ext cx="7666219" cy="4803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PLAY BUTTON,PAUSE BUTTON,LIKE ,SHARE</a:t>
            </a:r>
          </a:p>
        </p:txBody>
      </p:sp>
      <p:sp>
        <p:nvSpPr>
          <p:cNvPr id="7" name="Rectangle: Rounded Corners 6">
            <a:extLst>
              <a:ext uri="{FF2B5EF4-FFF2-40B4-BE49-F238E27FC236}">
                <a16:creationId xmlns:a16="http://schemas.microsoft.com/office/drawing/2014/main" id="{8559D8BC-C3AC-2716-78AA-C6667BE2D7D4}"/>
              </a:ext>
            </a:extLst>
          </p:cNvPr>
          <p:cNvSpPr/>
          <p:nvPr/>
        </p:nvSpPr>
        <p:spPr>
          <a:xfrm>
            <a:off x="1295400" y="3951550"/>
            <a:ext cx="1432810" cy="4803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ICONS</a:t>
            </a:r>
          </a:p>
        </p:txBody>
      </p:sp>
      <p:sp>
        <p:nvSpPr>
          <p:cNvPr id="8" name="Rectangle: Rounded Corners 7">
            <a:extLst>
              <a:ext uri="{FF2B5EF4-FFF2-40B4-BE49-F238E27FC236}">
                <a16:creationId xmlns:a16="http://schemas.microsoft.com/office/drawing/2014/main" id="{F0C87F5A-1094-720F-7278-F229FE704D0A}"/>
              </a:ext>
            </a:extLst>
          </p:cNvPr>
          <p:cNvSpPr/>
          <p:nvPr/>
        </p:nvSpPr>
        <p:spPr>
          <a:xfrm>
            <a:off x="2976795" y="3951550"/>
            <a:ext cx="7666219" cy="4803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CREATE,SHUFFLE,DOWNLOAD</a:t>
            </a:r>
          </a:p>
        </p:txBody>
      </p:sp>
      <p:sp>
        <p:nvSpPr>
          <p:cNvPr id="9" name="Rectangle: Rounded Corners 8">
            <a:extLst>
              <a:ext uri="{FF2B5EF4-FFF2-40B4-BE49-F238E27FC236}">
                <a16:creationId xmlns:a16="http://schemas.microsoft.com/office/drawing/2014/main" id="{36EC9E1D-F13E-D898-6404-2F143A7E65C1}"/>
              </a:ext>
            </a:extLst>
          </p:cNvPr>
          <p:cNvSpPr/>
          <p:nvPr/>
        </p:nvSpPr>
        <p:spPr>
          <a:xfrm>
            <a:off x="1295400" y="4663045"/>
            <a:ext cx="1432810" cy="4803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FORMS</a:t>
            </a:r>
          </a:p>
        </p:txBody>
      </p:sp>
      <p:sp>
        <p:nvSpPr>
          <p:cNvPr id="10" name="Rectangle: Rounded Corners 9">
            <a:extLst>
              <a:ext uri="{FF2B5EF4-FFF2-40B4-BE49-F238E27FC236}">
                <a16:creationId xmlns:a16="http://schemas.microsoft.com/office/drawing/2014/main" id="{34BEF016-91F2-FC1D-8C72-87068A889AA3}"/>
              </a:ext>
            </a:extLst>
          </p:cNvPr>
          <p:cNvSpPr/>
          <p:nvPr/>
        </p:nvSpPr>
        <p:spPr>
          <a:xfrm>
            <a:off x="2976795" y="4666084"/>
            <a:ext cx="7666219" cy="4803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LOGIN,SIGNUP,CONTACT,PROFILE</a:t>
            </a:r>
          </a:p>
        </p:txBody>
      </p:sp>
      <p:sp>
        <p:nvSpPr>
          <p:cNvPr id="3" name="Rectangle: Rounded Corners 2">
            <a:extLst>
              <a:ext uri="{FF2B5EF4-FFF2-40B4-BE49-F238E27FC236}">
                <a16:creationId xmlns:a16="http://schemas.microsoft.com/office/drawing/2014/main" id="{62955B47-DCFA-F942-BCAE-DE9EA7A4F8B0}"/>
              </a:ext>
            </a:extLst>
          </p:cNvPr>
          <p:cNvSpPr/>
          <p:nvPr/>
        </p:nvSpPr>
        <p:spPr>
          <a:xfrm>
            <a:off x="1295400" y="5395549"/>
            <a:ext cx="1432810" cy="4803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NAVIGATION</a:t>
            </a:r>
          </a:p>
        </p:txBody>
      </p:sp>
      <p:sp>
        <p:nvSpPr>
          <p:cNvPr id="11" name="Rectangle: Rounded Corners 10">
            <a:extLst>
              <a:ext uri="{FF2B5EF4-FFF2-40B4-BE49-F238E27FC236}">
                <a16:creationId xmlns:a16="http://schemas.microsoft.com/office/drawing/2014/main" id="{1978DA63-159C-08C0-23B5-2A886187FA4F}"/>
              </a:ext>
            </a:extLst>
          </p:cNvPr>
          <p:cNvSpPr/>
          <p:nvPr/>
        </p:nvSpPr>
        <p:spPr>
          <a:xfrm>
            <a:off x="2976794" y="5380618"/>
            <a:ext cx="7666219" cy="4803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HOME,SEARCH,LIBRARY,PLAYING BAR</a:t>
            </a:r>
          </a:p>
        </p:txBody>
      </p:sp>
    </p:spTree>
    <p:extLst>
      <p:ext uri="{BB962C8B-B14F-4D97-AF65-F5344CB8AC3E}">
        <p14:creationId xmlns:p14="http://schemas.microsoft.com/office/powerpoint/2010/main" val="295673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B446D620-F083-0ADE-5967-B7CAA6858500}"/>
              </a:ext>
            </a:extLst>
          </p:cNvPr>
          <p:cNvSpPr/>
          <p:nvPr/>
        </p:nvSpPr>
        <p:spPr>
          <a:xfrm>
            <a:off x="7060367" y="483433"/>
            <a:ext cx="4017364" cy="58911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Rectangle: Rounded Corners 9">
            <a:extLst>
              <a:ext uri="{FF2B5EF4-FFF2-40B4-BE49-F238E27FC236}">
                <a16:creationId xmlns:a16="http://schemas.microsoft.com/office/drawing/2014/main" id="{51EEE535-3DA8-CCC9-2FA9-5FEC24A94056}"/>
              </a:ext>
            </a:extLst>
          </p:cNvPr>
          <p:cNvSpPr/>
          <p:nvPr/>
        </p:nvSpPr>
        <p:spPr>
          <a:xfrm>
            <a:off x="7824866" y="779490"/>
            <a:ext cx="2488367" cy="58461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UX ANALYSIS</a:t>
            </a:r>
          </a:p>
        </p:txBody>
      </p:sp>
      <p:sp>
        <p:nvSpPr>
          <p:cNvPr id="12" name="Rectangle: Rounded Corners 11">
            <a:extLst>
              <a:ext uri="{FF2B5EF4-FFF2-40B4-BE49-F238E27FC236}">
                <a16:creationId xmlns:a16="http://schemas.microsoft.com/office/drawing/2014/main" id="{1856F3D5-7258-20C1-594F-F60C998DCD5F}"/>
              </a:ext>
            </a:extLst>
          </p:cNvPr>
          <p:cNvSpPr/>
          <p:nvPr/>
        </p:nvSpPr>
        <p:spPr>
          <a:xfrm>
            <a:off x="7315200" y="1586247"/>
            <a:ext cx="2083632" cy="46469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EASE TO USE</a:t>
            </a:r>
          </a:p>
        </p:txBody>
      </p:sp>
      <p:sp>
        <p:nvSpPr>
          <p:cNvPr id="14" name="TextBox 13">
            <a:extLst>
              <a:ext uri="{FF2B5EF4-FFF2-40B4-BE49-F238E27FC236}">
                <a16:creationId xmlns:a16="http://schemas.microsoft.com/office/drawing/2014/main" id="{810BDD24-8D24-90B0-B001-9B9B55D0AC78}"/>
              </a:ext>
            </a:extLst>
          </p:cNvPr>
          <p:cNvSpPr txBox="1"/>
          <p:nvPr/>
        </p:nvSpPr>
        <p:spPr>
          <a:xfrm>
            <a:off x="7824866" y="2226041"/>
            <a:ext cx="3252865" cy="369332"/>
          </a:xfrm>
          <a:prstGeom prst="rect">
            <a:avLst/>
          </a:prstGeom>
          <a:noFill/>
        </p:spPr>
        <p:txBody>
          <a:bodyPr wrap="square" rtlCol="0">
            <a:spAutoFit/>
          </a:bodyPr>
          <a:lstStyle/>
          <a:p>
            <a:r>
              <a:rPr lang="en-IN" dirty="0"/>
              <a:t>EASY,SIMPLE,FAST,SMOOTH</a:t>
            </a:r>
          </a:p>
        </p:txBody>
      </p:sp>
      <p:sp>
        <p:nvSpPr>
          <p:cNvPr id="15" name="Rectangle: Rounded Corners 14">
            <a:extLst>
              <a:ext uri="{FF2B5EF4-FFF2-40B4-BE49-F238E27FC236}">
                <a16:creationId xmlns:a16="http://schemas.microsoft.com/office/drawing/2014/main" id="{2DCBF874-8BE0-3D88-3F97-86C02D52AE82}"/>
              </a:ext>
            </a:extLst>
          </p:cNvPr>
          <p:cNvSpPr/>
          <p:nvPr/>
        </p:nvSpPr>
        <p:spPr>
          <a:xfrm>
            <a:off x="7315200" y="2675746"/>
            <a:ext cx="2083632" cy="46469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EFFICIENCY</a:t>
            </a:r>
          </a:p>
        </p:txBody>
      </p:sp>
      <p:sp>
        <p:nvSpPr>
          <p:cNvPr id="16" name="TextBox 15">
            <a:extLst>
              <a:ext uri="{FF2B5EF4-FFF2-40B4-BE49-F238E27FC236}">
                <a16:creationId xmlns:a16="http://schemas.microsoft.com/office/drawing/2014/main" id="{09826D19-7BB0-D953-92FE-CA9421F9682C}"/>
              </a:ext>
            </a:extLst>
          </p:cNvPr>
          <p:cNvSpPr txBox="1"/>
          <p:nvPr/>
        </p:nvSpPr>
        <p:spPr>
          <a:xfrm>
            <a:off x="7824865" y="3298673"/>
            <a:ext cx="3252865" cy="369332"/>
          </a:xfrm>
          <a:prstGeom prst="rect">
            <a:avLst/>
          </a:prstGeom>
          <a:noFill/>
        </p:spPr>
        <p:txBody>
          <a:bodyPr wrap="square" rtlCol="0">
            <a:spAutoFit/>
          </a:bodyPr>
          <a:lstStyle/>
          <a:p>
            <a:r>
              <a:rPr lang="en-IN" dirty="0"/>
              <a:t>QUICK,SEAMLESS,MINIMAL</a:t>
            </a:r>
          </a:p>
        </p:txBody>
      </p:sp>
      <p:sp>
        <p:nvSpPr>
          <p:cNvPr id="17" name="Rectangle: Rounded Corners 16">
            <a:extLst>
              <a:ext uri="{FF2B5EF4-FFF2-40B4-BE49-F238E27FC236}">
                <a16:creationId xmlns:a16="http://schemas.microsoft.com/office/drawing/2014/main" id="{89DB567A-8B1E-3FE0-1F71-BD1F0EA7BF99}"/>
              </a:ext>
            </a:extLst>
          </p:cNvPr>
          <p:cNvSpPr/>
          <p:nvPr/>
        </p:nvSpPr>
        <p:spPr>
          <a:xfrm>
            <a:off x="7315200" y="3716306"/>
            <a:ext cx="2083632" cy="46469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ACCESSABILITY</a:t>
            </a:r>
          </a:p>
        </p:txBody>
      </p:sp>
      <p:sp>
        <p:nvSpPr>
          <p:cNvPr id="18" name="TextBox 17">
            <a:extLst>
              <a:ext uri="{FF2B5EF4-FFF2-40B4-BE49-F238E27FC236}">
                <a16:creationId xmlns:a16="http://schemas.microsoft.com/office/drawing/2014/main" id="{7AB071C9-54E7-7004-DD54-478B33081F4B}"/>
              </a:ext>
            </a:extLst>
          </p:cNvPr>
          <p:cNvSpPr txBox="1"/>
          <p:nvPr/>
        </p:nvSpPr>
        <p:spPr>
          <a:xfrm>
            <a:off x="7824865" y="4204843"/>
            <a:ext cx="3252865" cy="646331"/>
          </a:xfrm>
          <a:prstGeom prst="rect">
            <a:avLst/>
          </a:prstGeom>
          <a:noFill/>
        </p:spPr>
        <p:txBody>
          <a:bodyPr wrap="square" rtlCol="0">
            <a:spAutoFit/>
          </a:bodyPr>
          <a:lstStyle/>
          <a:p>
            <a:r>
              <a:rPr lang="en-IN" dirty="0"/>
              <a:t>READABLE,VOICECONTRO, EASY  NAVIGATION</a:t>
            </a:r>
          </a:p>
        </p:txBody>
      </p:sp>
      <p:sp>
        <p:nvSpPr>
          <p:cNvPr id="19" name="Rectangle: Rounded Corners 18">
            <a:extLst>
              <a:ext uri="{FF2B5EF4-FFF2-40B4-BE49-F238E27FC236}">
                <a16:creationId xmlns:a16="http://schemas.microsoft.com/office/drawing/2014/main" id="{74FF5366-8CCD-5B69-2E6F-EDC021BA385F}"/>
              </a:ext>
            </a:extLst>
          </p:cNvPr>
          <p:cNvSpPr/>
          <p:nvPr/>
        </p:nvSpPr>
        <p:spPr>
          <a:xfrm>
            <a:off x="7315199" y="4875017"/>
            <a:ext cx="2083632" cy="57622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SATISFACTION</a:t>
            </a:r>
          </a:p>
        </p:txBody>
      </p:sp>
      <p:sp>
        <p:nvSpPr>
          <p:cNvPr id="20" name="TextBox 19">
            <a:extLst>
              <a:ext uri="{FF2B5EF4-FFF2-40B4-BE49-F238E27FC236}">
                <a16:creationId xmlns:a16="http://schemas.microsoft.com/office/drawing/2014/main" id="{33611781-6684-63CA-965C-191F7B6FDDD8}"/>
              </a:ext>
            </a:extLst>
          </p:cNvPr>
          <p:cNvSpPr txBox="1"/>
          <p:nvPr/>
        </p:nvSpPr>
        <p:spPr>
          <a:xfrm>
            <a:off x="7899816" y="5453912"/>
            <a:ext cx="2338466" cy="923330"/>
          </a:xfrm>
          <a:prstGeom prst="rect">
            <a:avLst/>
          </a:prstGeom>
          <a:noFill/>
        </p:spPr>
        <p:txBody>
          <a:bodyPr wrap="square" rtlCol="0">
            <a:spAutoFit/>
          </a:bodyPr>
          <a:lstStyle/>
          <a:p>
            <a:r>
              <a:rPr lang="en-IN" dirty="0"/>
              <a:t>LARGE MUSICLIBRARY,OFFLINE LISTENING</a:t>
            </a:r>
          </a:p>
        </p:txBody>
      </p:sp>
      <p:pic>
        <p:nvPicPr>
          <p:cNvPr id="8" name="Picture 7">
            <a:extLst>
              <a:ext uri="{FF2B5EF4-FFF2-40B4-BE49-F238E27FC236}">
                <a16:creationId xmlns:a16="http://schemas.microsoft.com/office/drawing/2014/main" id="{237E7EED-B4C8-10F9-54B3-BC4748ADDD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2955" y="567752"/>
            <a:ext cx="3258512" cy="5722495"/>
          </a:xfrm>
          <a:prstGeom prst="rect">
            <a:avLst/>
          </a:prstGeom>
        </p:spPr>
      </p:pic>
    </p:spTree>
    <p:extLst>
      <p:ext uri="{BB962C8B-B14F-4D97-AF65-F5344CB8AC3E}">
        <p14:creationId xmlns:p14="http://schemas.microsoft.com/office/powerpoint/2010/main" val="26071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E463-153E-99D0-669C-C3223CC9E3C0}"/>
              </a:ext>
            </a:extLst>
          </p:cNvPr>
          <p:cNvSpPr>
            <a:spLocks noGrp="1"/>
          </p:cNvSpPr>
          <p:nvPr>
            <p:ph type="title"/>
          </p:nvPr>
        </p:nvSpPr>
        <p:spPr/>
        <p:txBody>
          <a:bodyPr/>
          <a:lstStyle/>
          <a:p>
            <a:r>
              <a:rPr lang="en-IN" dirty="0"/>
              <a:t>INSHOT-EDITING APP</a:t>
            </a:r>
          </a:p>
        </p:txBody>
      </p:sp>
      <p:graphicFrame>
        <p:nvGraphicFramePr>
          <p:cNvPr id="4" name="Content Placeholder 3">
            <a:extLst>
              <a:ext uri="{FF2B5EF4-FFF2-40B4-BE49-F238E27FC236}">
                <a16:creationId xmlns:a16="http://schemas.microsoft.com/office/drawing/2014/main" id="{10720352-8924-7748-1B3E-826DA7248742}"/>
              </a:ext>
            </a:extLst>
          </p:cNvPr>
          <p:cNvGraphicFramePr>
            <a:graphicFrameLocks noGrp="1"/>
          </p:cNvGraphicFramePr>
          <p:nvPr>
            <p:ph idx="1"/>
            <p:extLst>
              <p:ext uri="{D42A27DB-BD31-4B8C-83A1-F6EECF244321}">
                <p14:modId xmlns:p14="http://schemas.microsoft.com/office/powerpoint/2010/main" val="2813081731"/>
              </p:ext>
            </p:extLst>
          </p:nvPr>
        </p:nvGraphicFramePr>
        <p:xfrm>
          <a:off x="1295400" y="2557463"/>
          <a:ext cx="3561413" cy="365760"/>
        </p:xfrm>
        <a:graphic>
          <a:graphicData uri="http://schemas.openxmlformats.org/drawingml/2006/table">
            <a:tbl>
              <a:tblPr firstRow="1" bandRow="1">
                <a:tableStyleId>{5C22544A-7EE6-4342-B048-85BDC9FD1C3A}</a:tableStyleId>
              </a:tblPr>
              <a:tblGrid>
                <a:gridCol w="3561413">
                  <a:extLst>
                    <a:ext uri="{9D8B030D-6E8A-4147-A177-3AD203B41FA5}">
                      <a16:colId xmlns:a16="http://schemas.microsoft.com/office/drawing/2014/main" val="112719530"/>
                    </a:ext>
                  </a:extLst>
                </a:gridCol>
              </a:tblGrid>
              <a:tr h="320648">
                <a:tc>
                  <a:txBody>
                    <a:bodyPr/>
                    <a:lstStyle/>
                    <a:p>
                      <a:r>
                        <a:rPr lang="en-IN" dirty="0"/>
                        <a:t>UI ELEMENTAL IDENTIFIED</a:t>
                      </a:r>
                    </a:p>
                  </a:txBody>
                  <a:tcPr/>
                </a:tc>
                <a:extLst>
                  <a:ext uri="{0D108BD9-81ED-4DB2-BD59-A6C34878D82A}">
                    <a16:rowId xmlns:a16="http://schemas.microsoft.com/office/drawing/2014/main" val="1519315614"/>
                  </a:ext>
                </a:extLst>
              </a:tr>
            </a:tbl>
          </a:graphicData>
        </a:graphic>
      </p:graphicFrame>
      <p:sp>
        <p:nvSpPr>
          <p:cNvPr id="5" name="Rectangle: Rounded Corners 4">
            <a:extLst>
              <a:ext uri="{FF2B5EF4-FFF2-40B4-BE49-F238E27FC236}">
                <a16:creationId xmlns:a16="http://schemas.microsoft.com/office/drawing/2014/main" id="{20059A1C-4B24-D559-E351-B2A5F85D02BC}"/>
              </a:ext>
            </a:extLst>
          </p:cNvPr>
          <p:cNvSpPr/>
          <p:nvPr/>
        </p:nvSpPr>
        <p:spPr>
          <a:xfrm>
            <a:off x="1109271" y="3162925"/>
            <a:ext cx="1828799" cy="3708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BUTTONS</a:t>
            </a:r>
          </a:p>
        </p:txBody>
      </p:sp>
      <p:sp>
        <p:nvSpPr>
          <p:cNvPr id="6" name="Rectangle: Rounded Corners 5">
            <a:extLst>
              <a:ext uri="{FF2B5EF4-FFF2-40B4-BE49-F238E27FC236}">
                <a16:creationId xmlns:a16="http://schemas.microsoft.com/office/drawing/2014/main" id="{C268F74F-505E-8003-2542-335CEF84A606}"/>
              </a:ext>
            </a:extLst>
          </p:cNvPr>
          <p:cNvSpPr/>
          <p:nvPr/>
        </p:nvSpPr>
        <p:spPr>
          <a:xfrm>
            <a:off x="3076106" y="3162925"/>
            <a:ext cx="6676870" cy="3708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HOME,CREATE,VIDEO,PHOTO,COLLAGE,EXPORT,CROP</a:t>
            </a:r>
          </a:p>
        </p:txBody>
      </p:sp>
      <p:sp>
        <p:nvSpPr>
          <p:cNvPr id="8" name="Rectangle: Rounded Corners 7">
            <a:extLst>
              <a:ext uri="{FF2B5EF4-FFF2-40B4-BE49-F238E27FC236}">
                <a16:creationId xmlns:a16="http://schemas.microsoft.com/office/drawing/2014/main" id="{38290689-E1E4-0163-B3F4-B425D580E196}"/>
              </a:ext>
            </a:extLst>
          </p:cNvPr>
          <p:cNvSpPr/>
          <p:nvPr/>
        </p:nvSpPr>
        <p:spPr>
          <a:xfrm>
            <a:off x="1109271" y="3744278"/>
            <a:ext cx="1828799" cy="3708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ICONS</a:t>
            </a:r>
          </a:p>
        </p:txBody>
      </p:sp>
      <p:sp>
        <p:nvSpPr>
          <p:cNvPr id="9" name="Rectangle: Rounded Corners 8">
            <a:extLst>
              <a:ext uri="{FF2B5EF4-FFF2-40B4-BE49-F238E27FC236}">
                <a16:creationId xmlns:a16="http://schemas.microsoft.com/office/drawing/2014/main" id="{196506FE-8995-5281-BF8C-93882CDF941B}"/>
              </a:ext>
            </a:extLst>
          </p:cNvPr>
          <p:cNvSpPr/>
          <p:nvPr/>
        </p:nvSpPr>
        <p:spPr>
          <a:xfrm>
            <a:off x="3076106" y="3744278"/>
            <a:ext cx="6676870" cy="3708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TOOLBAR,TIMELINE,MENUS,SLIDERS,PROGRESS BAR</a:t>
            </a:r>
          </a:p>
        </p:txBody>
      </p:sp>
      <p:sp>
        <p:nvSpPr>
          <p:cNvPr id="10" name="Rectangle: Rounded Corners 9">
            <a:extLst>
              <a:ext uri="{FF2B5EF4-FFF2-40B4-BE49-F238E27FC236}">
                <a16:creationId xmlns:a16="http://schemas.microsoft.com/office/drawing/2014/main" id="{D1FC1D00-A0BA-433A-DB85-EE20D7CB30A2}"/>
              </a:ext>
            </a:extLst>
          </p:cNvPr>
          <p:cNvSpPr/>
          <p:nvPr/>
        </p:nvSpPr>
        <p:spPr>
          <a:xfrm>
            <a:off x="1109271" y="4325631"/>
            <a:ext cx="1828799" cy="3708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FORMS</a:t>
            </a:r>
          </a:p>
        </p:txBody>
      </p:sp>
      <p:sp>
        <p:nvSpPr>
          <p:cNvPr id="11" name="Rectangle: Rounded Corners 10">
            <a:extLst>
              <a:ext uri="{FF2B5EF4-FFF2-40B4-BE49-F238E27FC236}">
                <a16:creationId xmlns:a16="http://schemas.microsoft.com/office/drawing/2014/main" id="{0BF5EBB8-3B10-FCA1-4C5A-5BBF4FC96D1E}"/>
              </a:ext>
            </a:extLst>
          </p:cNvPr>
          <p:cNvSpPr/>
          <p:nvPr/>
        </p:nvSpPr>
        <p:spPr>
          <a:xfrm>
            <a:off x="3076106" y="4349726"/>
            <a:ext cx="6676870" cy="3708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TEXT FIELDS,DROPDOWN MENU,RADIO BUTTONS,TABS</a:t>
            </a:r>
          </a:p>
        </p:txBody>
      </p:sp>
      <p:sp>
        <p:nvSpPr>
          <p:cNvPr id="12" name="Rectangle: Rounded Corners 11">
            <a:extLst>
              <a:ext uri="{FF2B5EF4-FFF2-40B4-BE49-F238E27FC236}">
                <a16:creationId xmlns:a16="http://schemas.microsoft.com/office/drawing/2014/main" id="{2706C2E5-3628-D520-5850-1CFB5FBE7F10}"/>
              </a:ext>
            </a:extLst>
          </p:cNvPr>
          <p:cNvSpPr/>
          <p:nvPr/>
        </p:nvSpPr>
        <p:spPr>
          <a:xfrm>
            <a:off x="1109272" y="4906984"/>
            <a:ext cx="1828800" cy="3708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 NAVIGATION</a:t>
            </a:r>
          </a:p>
        </p:txBody>
      </p:sp>
      <p:sp>
        <p:nvSpPr>
          <p:cNvPr id="13" name="Rectangle: Rounded Corners 12">
            <a:extLst>
              <a:ext uri="{FF2B5EF4-FFF2-40B4-BE49-F238E27FC236}">
                <a16:creationId xmlns:a16="http://schemas.microsoft.com/office/drawing/2014/main" id="{FBE0C46A-002D-7361-41B3-E40F85F7B0C8}"/>
              </a:ext>
            </a:extLst>
          </p:cNvPr>
          <p:cNvSpPr/>
          <p:nvPr/>
        </p:nvSpPr>
        <p:spPr>
          <a:xfrm>
            <a:off x="3076106" y="4911490"/>
            <a:ext cx="6676870" cy="6393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EDIT TOOLBAR,SCROLL BAR,BACK BUTTON,UNDO BUTTON</a:t>
            </a:r>
          </a:p>
          <a:p>
            <a:pPr algn="ctr"/>
            <a:r>
              <a:rPr lang="en-IN" dirty="0"/>
              <a:t>REDO BUTTON,SETTING ICONS</a:t>
            </a:r>
          </a:p>
        </p:txBody>
      </p:sp>
    </p:spTree>
    <p:extLst>
      <p:ext uri="{BB962C8B-B14F-4D97-AF65-F5344CB8AC3E}">
        <p14:creationId xmlns:p14="http://schemas.microsoft.com/office/powerpoint/2010/main" val="1367580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6F6E069-5AC6-1624-884F-E5D26617D5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2209" y="858186"/>
            <a:ext cx="2864839" cy="5002967"/>
          </a:xfrm>
          <a:prstGeom prst="rect">
            <a:avLst/>
          </a:prstGeom>
        </p:spPr>
      </p:pic>
      <p:sp>
        <p:nvSpPr>
          <p:cNvPr id="6" name="Rectangle: Rounded Corners 5">
            <a:extLst>
              <a:ext uri="{FF2B5EF4-FFF2-40B4-BE49-F238E27FC236}">
                <a16:creationId xmlns:a16="http://schemas.microsoft.com/office/drawing/2014/main" id="{98AFDE7F-2137-13C1-52E4-FA797986BAA9}"/>
              </a:ext>
            </a:extLst>
          </p:cNvPr>
          <p:cNvSpPr/>
          <p:nvPr/>
        </p:nvSpPr>
        <p:spPr>
          <a:xfrm>
            <a:off x="6138471" y="384121"/>
            <a:ext cx="4834329" cy="595109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86718388-1FEF-26DA-310A-242D75812DB4}"/>
              </a:ext>
            </a:extLst>
          </p:cNvPr>
          <p:cNvSpPr/>
          <p:nvPr/>
        </p:nvSpPr>
        <p:spPr>
          <a:xfrm>
            <a:off x="6925456" y="500490"/>
            <a:ext cx="3072983" cy="6745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UX ANALYSIS</a:t>
            </a:r>
          </a:p>
        </p:txBody>
      </p:sp>
      <p:sp>
        <p:nvSpPr>
          <p:cNvPr id="8" name="Rectangle: Rounded Corners 7">
            <a:extLst>
              <a:ext uri="{FF2B5EF4-FFF2-40B4-BE49-F238E27FC236}">
                <a16:creationId xmlns:a16="http://schemas.microsoft.com/office/drawing/2014/main" id="{83242B79-3F05-B8DA-425B-566588044C23}"/>
              </a:ext>
            </a:extLst>
          </p:cNvPr>
          <p:cNvSpPr/>
          <p:nvPr/>
        </p:nvSpPr>
        <p:spPr>
          <a:xfrm>
            <a:off x="6310856" y="1350267"/>
            <a:ext cx="2098623" cy="35976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EASE TO USE</a:t>
            </a:r>
          </a:p>
        </p:txBody>
      </p:sp>
      <p:sp>
        <p:nvSpPr>
          <p:cNvPr id="9" name="TextBox 8">
            <a:extLst>
              <a:ext uri="{FF2B5EF4-FFF2-40B4-BE49-F238E27FC236}">
                <a16:creationId xmlns:a16="http://schemas.microsoft.com/office/drawing/2014/main" id="{F3E42947-CE94-258B-78D3-4E65E29BD47E}"/>
              </a:ext>
            </a:extLst>
          </p:cNvPr>
          <p:cNvSpPr txBox="1"/>
          <p:nvPr/>
        </p:nvSpPr>
        <p:spPr>
          <a:xfrm>
            <a:off x="6925456" y="1744586"/>
            <a:ext cx="4047344" cy="646331"/>
          </a:xfrm>
          <a:prstGeom prst="rect">
            <a:avLst/>
          </a:prstGeom>
          <a:noFill/>
        </p:spPr>
        <p:txBody>
          <a:bodyPr wrap="square" rtlCol="0">
            <a:spAutoFit/>
          </a:bodyPr>
          <a:lstStyle/>
          <a:p>
            <a:r>
              <a:rPr lang="en-IN" dirty="0"/>
              <a:t>SIMPLE,BEGINNER FRIENDLY,,FAST EDITING,EASY CONTROL</a:t>
            </a:r>
          </a:p>
        </p:txBody>
      </p:sp>
      <p:sp>
        <p:nvSpPr>
          <p:cNvPr id="14" name="Rectangle: Rounded Corners 13">
            <a:extLst>
              <a:ext uri="{FF2B5EF4-FFF2-40B4-BE49-F238E27FC236}">
                <a16:creationId xmlns:a16="http://schemas.microsoft.com/office/drawing/2014/main" id="{2FF2215F-986F-583D-645B-6E3D021F7F2C}"/>
              </a:ext>
            </a:extLst>
          </p:cNvPr>
          <p:cNvSpPr/>
          <p:nvPr/>
        </p:nvSpPr>
        <p:spPr>
          <a:xfrm>
            <a:off x="6310856" y="2431684"/>
            <a:ext cx="2098623" cy="43221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EFFICIENCY</a:t>
            </a:r>
          </a:p>
        </p:txBody>
      </p:sp>
      <p:sp>
        <p:nvSpPr>
          <p:cNvPr id="15" name="TextBox 14">
            <a:extLst>
              <a:ext uri="{FF2B5EF4-FFF2-40B4-BE49-F238E27FC236}">
                <a16:creationId xmlns:a16="http://schemas.microsoft.com/office/drawing/2014/main" id="{56781613-A1B5-7938-CD4D-5F2EE5536A40}"/>
              </a:ext>
            </a:extLst>
          </p:cNvPr>
          <p:cNvSpPr txBox="1"/>
          <p:nvPr/>
        </p:nvSpPr>
        <p:spPr>
          <a:xfrm>
            <a:off x="6925456" y="2920484"/>
            <a:ext cx="4047344" cy="646331"/>
          </a:xfrm>
          <a:prstGeom prst="rect">
            <a:avLst/>
          </a:prstGeom>
          <a:noFill/>
        </p:spPr>
        <p:txBody>
          <a:bodyPr wrap="square" rtlCol="0">
            <a:spAutoFit/>
          </a:bodyPr>
          <a:lstStyle/>
          <a:p>
            <a:r>
              <a:rPr lang="en-IN" dirty="0"/>
              <a:t>TIMESAVING,RESPONSIVE,SMOOTHQUICK,USER FRIENDLY</a:t>
            </a:r>
          </a:p>
        </p:txBody>
      </p:sp>
      <p:sp>
        <p:nvSpPr>
          <p:cNvPr id="16" name="Rectangle: Rounded Corners 15">
            <a:extLst>
              <a:ext uri="{FF2B5EF4-FFF2-40B4-BE49-F238E27FC236}">
                <a16:creationId xmlns:a16="http://schemas.microsoft.com/office/drawing/2014/main" id="{61978767-8FF1-0140-D922-A9C9D0DA5C08}"/>
              </a:ext>
            </a:extLst>
          </p:cNvPr>
          <p:cNvSpPr/>
          <p:nvPr/>
        </p:nvSpPr>
        <p:spPr>
          <a:xfrm>
            <a:off x="6310856" y="3694359"/>
            <a:ext cx="2098623" cy="43221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ACCESSABILITY</a:t>
            </a:r>
          </a:p>
        </p:txBody>
      </p:sp>
      <p:sp>
        <p:nvSpPr>
          <p:cNvPr id="18" name="Rectangle: Rounded Corners 17">
            <a:extLst>
              <a:ext uri="{FF2B5EF4-FFF2-40B4-BE49-F238E27FC236}">
                <a16:creationId xmlns:a16="http://schemas.microsoft.com/office/drawing/2014/main" id="{E3A018E4-1020-0AFE-3AD0-D8D16897F02F}"/>
              </a:ext>
            </a:extLst>
          </p:cNvPr>
          <p:cNvSpPr/>
          <p:nvPr/>
        </p:nvSpPr>
        <p:spPr>
          <a:xfrm>
            <a:off x="6310856" y="4957034"/>
            <a:ext cx="2098623" cy="43221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SATISFACTION</a:t>
            </a:r>
          </a:p>
        </p:txBody>
      </p:sp>
      <p:sp>
        <p:nvSpPr>
          <p:cNvPr id="19" name="TextBox 18">
            <a:extLst>
              <a:ext uri="{FF2B5EF4-FFF2-40B4-BE49-F238E27FC236}">
                <a16:creationId xmlns:a16="http://schemas.microsoft.com/office/drawing/2014/main" id="{3CE363C5-949B-C10B-A25E-12D0AB9BCB53}"/>
              </a:ext>
            </a:extLst>
          </p:cNvPr>
          <p:cNvSpPr txBox="1"/>
          <p:nvPr/>
        </p:nvSpPr>
        <p:spPr>
          <a:xfrm>
            <a:off x="7120328" y="5507733"/>
            <a:ext cx="3439463" cy="646331"/>
          </a:xfrm>
          <a:prstGeom prst="rect">
            <a:avLst/>
          </a:prstGeom>
          <a:noFill/>
        </p:spPr>
        <p:txBody>
          <a:bodyPr wrap="square" rtlCol="0">
            <a:spAutoFit/>
          </a:bodyPr>
          <a:lstStyle/>
          <a:p>
            <a:r>
              <a:rPr lang="en-IN" dirty="0"/>
              <a:t>EASY,ENJOYABLE,RELIABLE,</a:t>
            </a:r>
          </a:p>
          <a:p>
            <a:r>
              <a:rPr lang="en-IN" dirty="0"/>
              <a:t>SATISFYING</a:t>
            </a:r>
          </a:p>
        </p:txBody>
      </p:sp>
      <p:sp>
        <p:nvSpPr>
          <p:cNvPr id="20" name="TextBox 19">
            <a:extLst>
              <a:ext uri="{FF2B5EF4-FFF2-40B4-BE49-F238E27FC236}">
                <a16:creationId xmlns:a16="http://schemas.microsoft.com/office/drawing/2014/main" id="{955CFD4B-0E70-75D2-DB2E-381826301FED}"/>
              </a:ext>
            </a:extLst>
          </p:cNvPr>
          <p:cNvSpPr txBox="1"/>
          <p:nvPr/>
        </p:nvSpPr>
        <p:spPr>
          <a:xfrm>
            <a:off x="6992132" y="4254119"/>
            <a:ext cx="3980668" cy="646331"/>
          </a:xfrm>
          <a:prstGeom prst="rect">
            <a:avLst/>
          </a:prstGeom>
          <a:noFill/>
        </p:spPr>
        <p:txBody>
          <a:bodyPr wrap="square" rtlCol="0">
            <a:spAutoFit/>
          </a:bodyPr>
          <a:lstStyle/>
          <a:p>
            <a:r>
              <a:rPr lang="en-IN" dirty="0"/>
              <a:t>EASY TO READ,GOOD CONTRAST,CLEAR ICONS</a:t>
            </a:r>
          </a:p>
        </p:txBody>
      </p:sp>
    </p:spTree>
    <p:extLst>
      <p:ext uri="{BB962C8B-B14F-4D97-AF65-F5344CB8AC3E}">
        <p14:creationId xmlns:p14="http://schemas.microsoft.com/office/powerpoint/2010/main" val="2315948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A0B030-F563-6A77-5A68-356DA5352125}"/>
              </a:ext>
            </a:extLst>
          </p:cNvPr>
          <p:cNvSpPr txBox="1"/>
          <p:nvPr/>
        </p:nvSpPr>
        <p:spPr>
          <a:xfrm>
            <a:off x="3762531" y="2008682"/>
            <a:ext cx="5321508" cy="1569660"/>
          </a:xfrm>
          <a:prstGeom prst="rect">
            <a:avLst/>
          </a:prstGeom>
          <a:noFill/>
        </p:spPr>
        <p:txBody>
          <a:bodyPr wrap="square" rtlCol="0">
            <a:spAutoFit/>
          </a:bodyPr>
          <a:lstStyle/>
          <a:p>
            <a:pPr algn="ctr"/>
            <a:r>
              <a:rPr lang="en-IN" sz="9600" b="1" i="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Bodoni MT Condensed" panose="02070606080606020203" pitchFamily="18" charset="0"/>
              </a:rPr>
              <a:t>THANK YOU</a:t>
            </a:r>
          </a:p>
        </p:txBody>
      </p:sp>
    </p:spTree>
    <p:extLst>
      <p:ext uri="{BB962C8B-B14F-4D97-AF65-F5344CB8AC3E}">
        <p14:creationId xmlns:p14="http://schemas.microsoft.com/office/powerpoint/2010/main" val="427462082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image" Target="../media/image1.jpeg" /></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E4E49EB0-FB00-41F5-9359-4843D783A2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Organic</Template>
  <TotalTime>679</TotalTime>
  <Words>703</Words>
  <Application>Microsoft Office PowerPoint</Application>
  <PresentationFormat>Widescreen</PresentationFormat>
  <Paragraphs>133</Paragraphs>
  <Slides>15</Slides>
  <Notes>1</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Organic</vt:lpstr>
      <vt:lpstr>UI/UX</vt:lpstr>
      <vt:lpstr>What is user interface(UI)?</vt:lpstr>
      <vt:lpstr>What is user experience(UX)?</vt:lpstr>
      <vt:lpstr>DIFF BETWEEN USER INTERFACE&amp;USER EXPERIENCE</vt:lpstr>
      <vt:lpstr>INSTAGRAM-SOCIAL MEDIA APP</vt:lpstr>
      <vt:lpstr>PowerPoint Presentation</vt:lpstr>
      <vt:lpstr>MEESHO-E-COMMERENCE APP</vt:lpstr>
      <vt:lpstr>PowerPoint Presentation</vt:lpstr>
      <vt:lpstr>SNAPCHAT-MULTIMEDIA INSTANT APP</vt:lpstr>
      <vt:lpstr>PowerPoint Presentation</vt:lpstr>
      <vt:lpstr>SPOTIFY-SOCIAL MEDIA APP</vt:lpstr>
      <vt:lpstr>PowerPoint Presentation</vt:lpstr>
      <vt:lpstr>INSHOT-EDITING APP</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UI/UX</dc:title>
  <dc:creator>acer</dc:creator>
  <cp:lastModifiedBy>soundaryatuty2008@gmail.com</cp:lastModifiedBy>
  <cp:revision>2</cp:revision>
  <dcterms:created xsi:type="dcterms:W3CDTF">2026-07-01T10:44:06Z</dcterms:created>
  <dcterms:modified xsi:type="dcterms:W3CDTF">2026-07-19T13:03:31Z</dcterms:modified>
</cp:coreProperties>
</file>